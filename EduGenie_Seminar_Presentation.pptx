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My name is [Your Name] and today I'm presenting my project, EduGenie — a Google Gemini Powered Learning Assistant. EduGenie is an AI-powered web application designed to help students learn more effectively. It uses Google's Gemini AI to answer questions, explain concepts, generate quizzes, summarize notes, and create personalized learning paths. Over the next few slides, I'll walk you through the problem it solves, how it works, and what makes it unique.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EduGenie is essentially a one-stop learning platform powered by AI. Instead of switching between different tools — one for asking questions, another for quizzes, another for summaries — students get everything in one place. The five core features are: AI Q&amp;A, concept explanation, quiz generation, text summarization, and learning path creation. What makes it special is the offline fallback — even if the Python backend isn't running, the app still works using a built-in knowledge engine. This was a deliberate design choice to make the app always available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explain the three main problems EduGenie addresses. First, information overload — when students search for a topic online, they get thousands of results with varying levels of complexity. It's hard to find a clear, simple explanation. Second, lack of practice — students often read and understand a concept, but without testing themselves, the knowledge doesn't stick. Creating quizzes takes time. Third, no clear learning path — students don't always know what order to learn things in. They need structure. EduGenie solves all three problems in one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main objectives of the project. First, provide AI-powered answers using Google Gemini — students can ask any question and get a clear answer. Second, simplify complex concepts with structured explanations that include analogies. Third, auto-generate quizzes so students can test themselves on any topic. Fourth, summarize study material — paste long notes and get key points. Fifth, create learning paths with step-by-step guidance and free resources. Sixth, ensure accessibility — the app works on mobile and desktop, and has an offline fallback so it always works even without the backend.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technology stack. The frontend is built with React 18, TypeScript, and Tailwind CSS — this gives us a modern, type-safe, responsive UI. The backend is Python with FastAPI framework, served by Uvicorn — FastAPI is fast, modern, and has built-in validation. The AI engine is Google Gemini, specifically the gemini-1.5-flash model, integrated via the official Python SDK. The database is Supabase, which is PostgreSQL in the cloud — it stores study history so students can revisit past sessions. The build tool is Vite 5 for fast development. And the design uses glassmorphism with a dark navy theme and responsive layout.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three-layer architecture. On the left is the Frontend — a React application that runs in the browser. It contains the dashboard UI, feature views for each tool, an API client that communicates with the backend, and a built-in offline knowledge engine as a fallback. The frontend sends HTTP requests to the Backend in the middle — a Python FastAPI server running on port 8000. The backend has six API endpoints, one for each feature plus a health check. On the right are the AI Engine and Database. The backend calls Google Gemini's API to generate responses, and Supabase stores the study history. The key security point is that the Gemini API key is stored only in the backend's environment file — it's never sent to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how a typical request flows through the system. Step 1: The student enters a topic or question and selects their learning level — beginner, intermediate, or advanced. Step 2: The React frontend sends a POST request to the FastAPI backend. Step 3: The backend builds a carefully crafted prompt for Gemini, including the learning level context so the AI adjusts its language accordingly. Step 4: Google Gemini processes the prompt and returns an AI-generated response — this could be an answer, an explanation, a quiz, a summary, or a learning path. Step 5: The result is displayed in the UI and saved to Supabase for the student's study history. The important thing to note is the offline fallback — if the backend isn't running, steps 2 through 4 are replaced by the built-in knowledge engine, so the app always 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main features of EduGenie, each accessible from the sidebar navigation. First is AI Q&amp;A — students type any question and get an instant AI-powered answer with real-world examples. Second is Explain — enter a concept and get a structured breakdown with an overview, key points, an analogy, and a deeper explanation. Third is Quiz Generator — automatically creates multiple-choice quizzes with four options each, and students can check their answers with explanations. Fourth is Summarize — paste long notes or textbook passages and get the main idea, key points, and takeaways. Fifth is Learning Path — enter a subject and get a step-by-step study plan with free resources for each step. As a bonus, all sessions are saved to Study History so students can revisit their past 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mockups of the actual EduGenie interface. On the left is the Dashboard — the home page students see when they open the app. It shows the EduGenie logo, a welcome message, a Gemini connection status badge, and feature cards for all five tools. Each card is clickable and navigates to that feature. On the right is the Quiz Generator view. At the top is the feature title and description. Below that is the level selector — Beginner, Intermediate, or Advanced. Then a text input where the student enters the quiz topic, and a gradient Generate button. When clicked, the quiz appears below with multiple-choice questions and answer options. The design uses a dark navy theme with glassmorphism cards, violet and cyan accents, and is fully responsive on mobile.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six key advantages of EduGenie. First, instant AI responses — Gemini generates answers in seconds, much faster than searching through multiple websites. Second, adaptive learning levels — the student picks Beginner, Intermediate, or Advanced, and the AI adjusts its language and depth accordingly. This is a personalization feature. Third, always works — the offline fallback means even if the Python backend isn't running, students can still use the app with the built-in knowledge engine. Fourth, fully responsive — the UI works on desktop, tablet, and mobile, with the sidebar collapsing to a drawer on smaller screens. Fifth, study history — every session is saved to Supabase so students can revisit their work. Sixth, secure by design — the API key is never exposed to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EduGenie is fully functional today, there are several enhancements I'd like to add in the future. First, user accounts — right now study history is shared, but with authentication, each student would have their own private history and bookmarks. Second, voice input and output — letting students ask questions by speaking and hearing answers read aloud would make the app more accessible. Third, progress analytics — tracking quiz scores over time to show strengths and weaknesses, and suggest what to study next. Fourth, multi-language support — so students can learn in their native language. Fifth, a teacher dashboard — letting teachers create custom quizzes and learning paths for their classes. Sixth, PDF export — allowing students to download their explanations, summaries, and learning paths as PDF documents for offline study.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EduGenie shows how AI can transform the way students learn. By combining Google Gemini with a modern web stack — React, FastAPI, and Supabase — it delivers five powerful learning tools in one clean platform. The key takeaways are: AI makes learning faster by giving instant answers, personalization matters because different students need different levels of explanation, and the app is always available thanks to the offline fallback. EduGenie is a working, production-ready application that's ready for real use. Thank you for listening. I'm happy to answer any questions you might have about the project, the technology, or the features.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57200"/>
            <a:ext cx="3657600" cy="3657600"/>
          </a:xfrm>
          <a:prstGeom prst="ellipse">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3200400"/>
            <a:ext cx="3657600" cy="3657600"/>
          </a:xfrm>
          <a:prstGeom prst="ellipse">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84648" y="731520"/>
            <a:ext cx="1828800" cy="1828800"/>
          </a:xfrm>
          <a:prstGeom prst="roundRect">
            <a:avLst>
              <a:gd name="adj" fmla="val 6000"/>
            </a:avLst>
          </a:prstGeom>
          <a:solidFill>
            <a:srgbClr val="0C1122"/>
          </a:solidFill>
          <a:ln w="12700">
            <a:solidFill>
              <a:srgbClr val="303C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0" y="1005840"/>
            <a:ext cx="1234440" cy="123444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0" y="1051560"/>
            <a:ext cx="1234440" cy="1234440"/>
          </a:xfrm>
          <a:prstGeom prst="rect">
            <a:avLst/>
          </a:prstGeom>
          <a:noFill/>
        </p:spPr>
        <p:txBody>
          <a:bodyPr wrap="square" anchor="ctr">
            <a:spAutoFit/>
          </a:bodyPr>
          <a:lstStyle/>
          <a:p>
            <a:pPr algn="ctr">
              <a:defRPr sz="4000" b="0">
                <a:solidFill>
                  <a:srgbClr val="CBD5E1"/>
                </a:solidFill>
                <a:latin typeface="Calibri"/>
              </a:defRPr>
            </a:pPr>
            <a:r>
              <a:t>🎓</a:t>
            </a:r>
          </a:p>
        </p:txBody>
      </p:sp>
      <p:sp>
        <p:nvSpPr>
          <p:cNvPr id="8" name="Rounded Rectangle 7"/>
          <p:cNvSpPr/>
          <p:nvPr/>
        </p:nvSpPr>
        <p:spPr>
          <a:xfrm>
            <a:off x="4270248" y="2926080"/>
            <a:ext cx="3657600" cy="411480"/>
          </a:xfrm>
          <a:prstGeom prst="roundRect">
            <a:avLst>
              <a:gd name="adj" fmla="val 6000"/>
            </a:avLst>
          </a:prstGeom>
          <a:solidFill>
            <a:srgbClr val="0A1123"/>
          </a:solidFill>
          <a:ln w="12700">
            <a:solidFill>
              <a:srgbClr val="1B3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70248" y="2944368"/>
            <a:ext cx="3657600" cy="411480"/>
          </a:xfrm>
          <a:prstGeom prst="rect">
            <a:avLst/>
          </a:prstGeom>
          <a:noFill/>
        </p:spPr>
        <p:txBody>
          <a:bodyPr wrap="square" anchor="ctr">
            <a:spAutoFit/>
          </a:bodyPr>
          <a:lstStyle/>
          <a:p>
            <a:pPr algn="ctr">
              <a:defRPr sz="1100" b="1">
                <a:solidFill>
                  <a:srgbClr val="22D3EE"/>
                </a:solidFill>
                <a:latin typeface="Calibri"/>
              </a:defRPr>
            </a:pPr>
            <a:r>
              <a:t>AI-POWERED LEARNING ASSISTANT</a:t>
            </a:r>
          </a:p>
        </p:txBody>
      </p:sp>
      <p:sp>
        <p:nvSpPr>
          <p:cNvPr id="10" name="TextBox 9"/>
          <p:cNvSpPr txBox="1"/>
          <p:nvPr/>
        </p:nvSpPr>
        <p:spPr>
          <a:xfrm>
            <a:off x="914400" y="3566160"/>
            <a:ext cx="10362895" cy="1097280"/>
          </a:xfrm>
          <a:prstGeom prst="rect">
            <a:avLst/>
          </a:prstGeom>
          <a:noFill/>
        </p:spPr>
        <p:txBody>
          <a:bodyPr wrap="square" anchor="t">
            <a:spAutoFit/>
          </a:bodyPr>
          <a:lstStyle/>
          <a:p>
            <a:pPr algn="ctr">
              <a:defRPr sz="5400" b="1">
                <a:solidFill>
                  <a:srgbClr val="F1F5F9"/>
                </a:solidFill>
                <a:latin typeface="Calibri"/>
              </a:defRPr>
            </a:pPr>
            <a:r>
              <a:t>EduGenie</a:t>
            </a:r>
          </a:p>
        </p:txBody>
      </p:sp>
      <p:sp>
        <p:nvSpPr>
          <p:cNvPr id="11" name="TextBox 10"/>
          <p:cNvSpPr txBox="1"/>
          <p:nvPr/>
        </p:nvSpPr>
        <p:spPr>
          <a:xfrm>
            <a:off x="914400" y="4526280"/>
            <a:ext cx="10362895" cy="548640"/>
          </a:xfrm>
          <a:prstGeom prst="rect">
            <a:avLst/>
          </a:prstGeom>
          <a:noFill/>
        </p:spPr>
        <p:txBody>
          <a:bodyPr wrap="square" anchor="t">
            <a:spAutoFit/>
          </a:bodyPr>
          <a:lstStyle/>
          <a:p>
            <a:pPr algn="ctr">
              <a:defRPr sz="2000" b="0">
                <a:solidFill>
                  <a:srgbClr val="A582FF"/>
                </a:solidFill>
                <a:latin typeface="Calibri"/>
              </a:defRPr>
            </a:pPr>
            <a:r>
              <a:t>Google Gemini Powered Learning Assistant</a:t>
            </a:r>
          </a:p>
        </p:txBody>
      </p:sp>
      <p:sp>
        <p:nvSpPr>
          <p:cNvPr id="12" name="Rectangle 11"/>
          <p:cNvSpPr/>
          <p:nvPr/>
        </p:nvSpPr>
        <p:spPr>
          <a:xfrm>
            <a:off x="4727448" y="5166360"/>
            <a:ext cx="2743200" cy="27432"/>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77840"/>
            <a:ext cx="10362895" cy="365760"/>
          </a:xfrm>
          <a:prstGeom prst="rect">
            <a:avLst/>
          </a:prstGeom>
          <a:noFill/>
        </p:spPr>
        <p:txBody>
          <a:bodyPr wrap="square" anchor="t">
            <a:spAutoFit/>
          </a:bodyPr>
          <a:lstStyle/>
          <a:p>
            <a:pPr algn="ctr">
              <a:defRPr sz="1400" b="0">
                <a:solidFill>
                  <a:srgbClr val="64748B"/>
                </a:solidFill>
                <a:latin typeface="Calibri"/>
              </a:defRPr>
            </a:pPr>
            <a:r>
              <a:t>College Seminar Presentation</a:t>
            </a:r>
          </a:p>
        </p:txBody>
      </p:sp>
      <p:sp>
        <p:nvSpPr>
          <p:cNvPr id="14" name="TextBox 13"/>
          <p:cNvSpPr txBox="1"/>
          <p:nvPr/>
        </p:nvSpPr>
        <p:spPr>
          <a:xfrm>
            <a:off x="914400" y="5989320"/>
            <a:ext cx="10362895" cy="365760"/>
          </a:xfrm>
          <a:prstGeom prst="rect">
            <a:avLst/>
          </a:prstGeom>
          <a:noFill/>
        </p:spPr>
        <p:txBody>
          <a:bodyPr wrap="square" anchor="t">
            <a:spAutoFit/>
          </a:bodyPr>
          <a:lstStyle/>
          <a:p>
            <a:pPr algn="ctr">
              <a:defRPr sz="1200" b="0">
                <a:solidFill>
                  <a:srgbClr val="475569"/>
                </a:solidFill>
                <a:latin typeface="Calibri"/>
              </a:defRPr>
            </a:pPr>
            <a:r>
              <a:t>Department of Computer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914400"/>
            <a:ext cx="3200400" cy="3200400"/>
          </a:xfrm>
          <a:prstGeom prst="ellipse">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01 — INTRODUCTION</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What is EduGenie?</a:t>
            </a:r>
          </a:p>
        </p:txBody>
      </p:sp>
      <p:sp>
        <p:nvSpPr>
          <p:cNvPr id="7" name="TextBox 6"/>
          <p:cNvSpPr txBox="1"/>
          <p:nvPr/>
        </p:nvSpPr>
        <p:spPr>
          <a:xfrm>
            <a:off x="960120" y="1737360"/>
            <a:ext cx="10058400" cy="2011680"/>
          </a:xfrm>
          <a:prstGeom prst="rect">
            <a:avLst/>
          </a:prstGeom>
          <a:noFill/>
        </p:spPr>
        <p:txBody>
          <a:bodyPr wrap="square" anchor="t">
            <a:spAutoFit/>
          </a:bodyPr>
          <a:lstStyle/>
          <a:p>
            <a:pPr algn="l">
              <a:spcAft>
                <a:spcPts val="600"/>
              </a:spcAft>
              <a:defRPr sz="1700" b="0">
                <a:solidFill>
                  <a:srgbClr val="CBD5E1"/>
                </a:solidFill>
                <a:latin typeface="Calibri"/>
              </a:defRPr>
            </a:pPr>
            <a:r>
              <a:t>EduGenie is an AI-powered learning assistant built for students.</a:t>
            </a:r>
          </a:p>
          <a:p>
            <a:pPr algn="l">
              <a:spcAft>
                <a:spcPts val="600"/>
              </a:spcAft>
              <a:defRPr sz="1700" b="0">
                <a:solidFill>
                  <a:srgbClr val="CBD5E1"/>
                </a:solidFill>
                <a:latin typeface="Calibri"/>
              </a:defRPr>
            </a:pPr>
            <a:r>
              <a:t>It uses Google Gemini AI to provide five key learning tools in one platform:</a:t>
            </a:r>
          </a:p>
          <a:p>
            <a:pPr algn="l">
              <a:spcAft>
                <a:spcPts val="600"/>
              </a:spcAft>
              <a:defRPr sz="800" b="0">
                <a:solidFill>
                  <a:srgbClr val="CBD5E1"/>
                </a:solidFill>
                <a:latin typeface="Calibri"/>
              </a:defRPr>
            </a:pPr>
          </a:p>
          <a:p>
            <a:pPr algn="l">
              <a:spcAft>
                <a:spcPts val="600"/>
              </a:spcAft>
              <a:defRPr sz="1500" b="0">
                <a:solidFill>
                  <a:srgbClr val="CBD5E1"/>
                </a:solidFill>
                <a:latin typeface="Calibri"/>
              </a:defRPr>
            </a:pPr>
            <a:r>
              <a:t>•  AI Question &amp; Answer — Get instant answers to any study question</a:t>
            </a:r>
          </a:p>
          <a:p>
            <a:pPr algn="l">
              <a:spcAft>
                <a:spcPts val="600"/>
              </a:spcAft>
              <a:defRPr sz="1500" b="0">
                <a:solidFill>
                  <a:srgbClr val="CBD5E1"/>
                </a:solidFill>
                <a:latin typeface="Calibri"/>
              </a:defRPr>
            </a:pPr>
            <a:r>
              <a:t>•  Concept Explanation — Break down difficult topics with simple analogies</a:t>
            </a:r>
          </a:p>
          <a:p>
            <a:pPr algn="l">
              <a:spcAft>
                <a:spcPts val="600"/>
              </a:spcAft>
              <a:defRPr sz="1500" b="0">
                <a:solidFill>
                  <a:srgbClr val="CBD5E1"/>
                </a:solidFill>
                <a:latin typeface="Calibri"/>
              </a:defRPr>
            </a:pPr>
            <a:r>
              <a:t>•  Quiz Generator — Auto-create quizzes to test your knowledge</a:t>
            </a:r>
          </a:p>
          <a:p>
            <a:pPr algn="l">
              <a:spcAft>
                <a:spcPts val="600"/>
              </a:spcAft>
              <a:defRPr sz="1500" b="0">
                <a:solidFill>
                  <a:srgbClr val="CBD5E1"/>
                </a:solidFill>
                <a:latin typeface="Calibri"/>
              </a:defRPr>
            </a:pPr>
            <a:r>
              <a:t>•  Text Summarizer — Summarize long notes into key points</a:t>
            </a:r>
          </a:p>
          <a:p>
            <a:pPr algn="l">
              <a:spcAft>
                <a:spcPts val="600"/>
              </a:spcAft>
              <a:defRPr sz="1500" b="0">
                <a:solidFill>
                  <a:srgbClr val="CBD5E1"/>
                </a:solidFill>
                <a:latin typeface="Calibri"/>
              </a:defRPr>
            </a:pPr>
            <a:r>
              <a:t>•  Learning Path — Get a personalized step-by-step study plan</a:t>
            </a:r>
          </a:p>
        </p:txBody>
      </p:sp>
      <p:sp>
        <p:nvSpPr>
          <p:cNvPr id="8" name="Rounded Rectangle 7"/>
          <p:cNvSpPr/>
          <p:nvPr/>
        </p:nvSpPr>
        <p:spPr>
          <a:xfrm>
            <a:off x="960120" y="4754880"/>
            <a:ext cx="10241280" cy="1188720"/>
          </a:xfrm>
          <a:prstGeom prst="roundRect">
            <a:avLst>
              <a:gd name="adj" fmla="val 6000"/>
            </a:avLst>
          </a:prstGeom>
          <a:solidFill>
            <a:srgbClr val="0C1122"/>
          </a:solidFill>
          <a:ln w="12700">
            <a:solidFill>
              <a:srgbClr val="1B2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4892040"/>
            <a:ext cx="1828800" cy="320040"/>
          </a:xfrm>
          <a:prstGeom prst="rect">
            <a:avLst/>
          </a:prstGeom>
          <a:noFill/>
        </p:spPr>
        <p:txBody>
          <a:bodyPr wrap="square" anchor="t">
            <a:spAutoFit/>
          </a:bodyPr>
          <a:lstStyle/>
          <a:p>
            <a:pPr algn="l">
              <a:defRPr sz="900" b="1">
                <a:solidFill>
                  <a:srgbClr val="23CBDC"/>
                </a:solidFill>
                <a:latin typeface="Calibri"/>
              </a:defRPr>
            </a:pPr>
            <a:r>
              <a:t>KEY HIGHLIGHT</a:t>
            </a:r>
          </a:p>
        </p:txBody>
      </p:sp>
      <p:sp>
        <p:nvSpPr>
          <p:cNvPr id="10" name="TextBox 9"/>
          <p:cNvSpPr txBox="1"/>
          <p:nvPr/>
        </p:nvSpPr>
        <p:spPr>
          <a:xfrm>
            <a:off x="1280160" y="5212080"/>
            <a:ext cx="9601200" cy="640080"/>
          </a:xfrm>
          <a:prstGeom prst="rect">
            <a:avLst/>
          </a:prstGeom>
          <a:noFill/>
        </p:spPr>
        <p:txBody>
          <a:bodyPr wrap="square" anchor="t">
            <a:spAutoFit/>
          </a:bodyPr>
          <a:lstStyle/>
          <a:p>
            <a:pPr algn="l">
              <a:spcAft>
                <a:spcPts val="600"/>
              </a:spcAft>
              <a:defRPr sz="1400" b="1">
                <a:solidFill>
                  <a:srgbClr val="F1F5F9"/>
                </a:solidFill>
                <a:latin typeface="Calibri"/>
              </a:defRPr>
            </a:pPr>
            <a:r>
              <a:t>Works with or without the AI backend — includes a built-in offline knowledge engine</a:t>
            </a:r>
          </a:p>
          <a:p>
            <a:pPr algn="l">
              <a:spcAft>
                <a:spcPts val="600"/>
              </a:spcAft>
              <a:defRPr sz="1300" b="0">
                <a:solidFill>
                  <a:srgbClr val="64748B"/>
                </a:solidFill>
                <a:latin typeface="Calibri"/>
              </a:defRPr>
            </a:pPr>
            <a:r>
              <a:t>so students can always learn, even without an internet connection to the Gemini API.</a:t>
            </a:r>
          </a:p>
        </p:txBody>
      </p:sp>
      <p:sp>
        <p:nvSpPr>
          <p:cNvPr id="11" name="TextBox 10"/>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86800" y="3657600"/>
            <a:ext cx="3657600" cy="3657600"/>
          </a:xfrm>
          <a:prstGeom prst="ellipse">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02 — PROBLEM STATEMENT</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The Problem We Solve</a:t>
            </a:r>
          </a:p>
        </p:txBody>
      </p:sp>
      <p:sp>
        <p:nvSpPr>
          <p:cNvPr id="7" name="Rounded Rectangle 6"/>
          <p:cNvSpPr/>
          <p:nvPr/>
        </p:nvSpPr>
        <p:spPr>
          <a:xfrm>
            <a:off x="960120" y="1828800"/>
            <a:ext cx="10241280" cy="128016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51560" y="2011680"/>
            <a:ext cx="54864" cy="91440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1965960"/>
            <a:ext cx="640080" cy="640080"/>
          </a:xfrm>
          <a:prstGeom prst="rect">
            <a:avLst/>
          </a:prstGeom>
          <a:noFill/>
        </p:spPr>
        <p:txBody>
          <a:bodyPr wrap="square" anchor="ctr">
            <a:spAutoFit/>
          </a:bodyPr>
          <a:lstStyle/>
          <a:p>
            <a:pPr algn="ctr">
              <a:defRPr sz="2400" b="0">
                <a:solidFill>
                  <a:srgbClr val="CBD5E1"/>
                </a:solidFill>
                <a:latin typeface="Calibri"/>
              </a:defRPr>
            </a:pPr>
            <a:r>
              <a:t>📚</a:t>
            </a:r>
          </a:p>
        </p:txBody>
      </p:sp>
      <p:sp>
        <p:nvSpPr>
          <p:cNvPr id="10" name="TextBox 9"/>
          <p:cNvSpPr txBox="1"/>
          <p:nvPr/>
        </p:nvSpPr>
        <p:spPr>
          <a:xfrm>
            <a:off x="2103120" y="1965960"/>
            <a:ext cx="8686800" cy="365760"/>
          </a:xfrm>
          <a:prstGeom prst="rect">
            <a:avLst/>
          </a:prstGeom>
          <a:noFill/>
        </p:spPr>
        <p:txBody>
          <a:bodyPr wrap="square" anchor="t">
            <a:spAutoFit/>
          </a:bodyPr>
          <a:lstStyle/>
          <a:p>
            <a:pPr algn="l">
              <a:defRPr sz="1600" b="1">
                <a:solidFill>
                  <a:srgbClr val="F1F5F9"/>
                </a:solidFill>
                <a:latin typeface="Calibri"/>
              </a:defRPr>
            </a:pPr>
            <a:r>
              <a:t>Information Overload</a:t>
            </a:r>
          </a:p>
        </p:txBody>
      </p:sp>
      <p:sp>
        <p:nvSpPr>
          <p:cNvPr id="11" name="TextBox 10"/>
          <p:cNvSpPr txBox="1"/>
          <p:nvPr/>
        </p:nvSpPr>
        <p:spPr>
          <a:xfrm>
            <a:off x="2103120" y="2377440"/>
            <a:ext cx="8686800" cy="640080"/>
          </a:xfrm>
          <a:prstGeom prst="rect">
            <a:avLst/>
          </a:prstGeom>
          <a:noFill/>
        </p:spPr>
        <p:txBody>
          <a:bodyPr wrap="square" anchor="t">
            <a:spAutoFit/>
          </a:bodyPr>
          <a:lstStyle/>
          <a:p>
            <a:pPr algn="l">
              <a:defRPr sz="1300" b="0">
                <a:solidFill>
                  <a:srgbClr val="64748B"/>
                </a:solidFill>
                <a:latin typeface="Calibri"/>
              </a:defRPr>
            </a:pPr>
            <a:r>
              <a:t>Students struggle to find clear, simple explanations. Search results are often too complex or scattered across multiple websites.</a:t>
            </a:r>
          </a:p>
        </p:txBody>
      </p:sp>
      <p:sp>
        <p:nvSpPr>
          <p:cNvPr id="12" name="Rounded Rectangle 11"/>
          <p:cNvSpPr/>
          <p:nvPr/>
        </p:nvSpPr>
        <p:spPr>
          <a:xfrm>
            <a:off x="960120" y="3291840"/>
            <a:ext cx="10241280" cy="128016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51560" y="3474720"/>
            <a:ext cx="54864" cy="914400"/>
          </a:xfrm>
          <a:prstGeom prst="round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429000"/>
            <a:ext cx="640080" cy="640080"/>
          </a:xfrm>
          <a:prstGeom prst="rect">
            <a:avLst/>
          </a:prstGeom>
          <a:noFill/>
        </p:spPr>
        <p:txBody>
          <a:bodyPr wrap="square" anchor="ctr">
            <a:spAutoFit/>
          </a:bodyPr>
          <a:lstStyle/>
          <a:p>
            <a:pPr algn="ctr">
              <a:defRPr sz="2400" b="0">
                <a:solidFill>
                  <a:srgbClr val="CBD5E1"/>
                </a:solidFill>
                <a:latin typeface="Calibri"/>
              </a:defRPr>
            </a:pPr>
            <a:r>
              <a:t>🧪</a:t>
            </a:r>
          </a:p>
        </p:txBody>
      </p:sp>
      <p:sp>
        <p:nvSpPr>
          <p:cNvPr id="15" name="TextBox 14"/>
          <p:cNvSpPr txBox="1"/>
          <p:nvPr/>
        </p:nvSpPr>
        <p:spPr>
          <a:xfrm>
            <a:off x="2103120" y="3429000"/>
            <a:ext cx="8686800" cy="365760"/>
          </a:xfrm>
          <a:prstGeom prst="rect">
            <a:avLst/>
          </a:prstGeom>
          <a:noFill/>
        </p:spPr>
        <p:txBody>
          <a:bodyPr wrap="square" anchor="t">
            <a:spAutoFit/>
          </a:bodyPr>
          <a:lstStyle/>
          <a:p>
            <a:pPr algn="l">
              <a:defRPr sz="1600" b="1">
                <a:solidFill>
                  <a:srgbClr val="F1F5F9"/>
                </a:solidFill>
                <a:latin typeface="Calibri"/>
              </a:defRPr>
            </a:pPr>
            <a:r>
              <a:t>Lack of Practice</a:t>
            </a:r>
          </a:p>
        </p:txBody>
      </p:sp>
      <p:sp>
        <p:nvSpPr>
          <p:cNvPr id="16" name="TextBox 15"/>
          <p:cNvSpPr txBox="1"/>
          <p:nvPr/>
        </p:nvSpPr>
        <p:spPr>
          <a:xfrm>
            <a:off x="2103120" y="3840480"/>
            <a:ext cx="8686800" cy="640080"/>
          </a:xfrm>
          <a:prstGeom prst="rect">
            <a:avLst/>
          </a:prstGeom>
          <a:noFill/>
        </p:spPr>
        <p:txBody>
          <a:bodyPr wrap="square" anchor="t">
            <a:spAutoFit/>
          </a:bodyPr>
          <a:lstStyle/>
          <a:p>
            <a:pPr algn="l">
              <a:defRPr sz="1300" b="0">
                <a:solidFill>
                  <a:srgbClr val="64748B"/>
                </a:solidFill>
                <a:latin typeface="Calibri"/>
              </a:defRPr>
            </a:pPr>
            <a:r>
              <a:t>Students read concepts but don't test themselves. Creating quizzes manually is time-consuming for both students and teachers.</a:t>
            </a:r>
          </a:p>
        </p:txBody>
      </p:sp>
      <p:sp>
        <p:nvSpPr>
          <p:cNvPr id="17" name="Rounded Rectangle 16"/>
          <p:cNvSpPr/>
          <p:nvPr/>
        </p:nvSpPr>
        <p:spPr>
          <a:xfrm>
            <a:off x="960120" y="4754880"/>
            <a:ext cx="10241280" cy="128016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51560" y="4937760"/>
            <a:ext cx="54864" cy="91440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4892040"/>
            <a:ext cx="640080" cy="640080"/>
          </a:xfrm>
          <a:prstGeom prst="rect">
            <a:avLst/>
          </a:prstGeom>
          <a:noFill/>
        </p:spPr>
        <p:txBody>
          <a:bodyPr wrap="square" anchor="ctr">
            <a:spAutoFit/>
          </a:bodyPr>
          <a:lstStyle/>
          <a:p>
            <a:pPr algn="ctr">
              <a:defRPr sz="2400" b="0">
                <a:solidFill>
                  <a:srgbClr val="CBD5E1"/>
                </a:solidFill>
                <a:latin typeface="Calibri"/>
              </a:defRPr>
            </a:pPr>
            <a:r>
              <a:t>🛤️</a:t>
            </a:r>
          </a:p>
        </p:txBody>
      </p:sp>
      <p:sp>
        <p:nvSpPr>
          <p:cNvPr id="20" name="TextBox 19"/>
          <p:cNvSpPr txBox="1"/>
          <p:nvPr/>
        </p:nvSpPr>
        <p:spPr>
          <a:xfrm>
            <a:off x="2103120" y="4892040"/>
            <a:ext cx="8686800" cy="365760"/>
          </a:xfrm>
          <a:prstGeom prst="rect">
            <a:avLst/>
          </a:prstGeom>
          <a:noFill/>
        </p:spPr>
        <p:txBody>
          <a:bodyPr wrap="square" anchor="t">
            <a:spAutoFit/>
          </a:bodyPr>
          <a:lstStyle/>
          <a:p>
            <a:pPr algn="l">
              <a:defRPr sz="1600" b="1">
                <a:solidFill>
                  <a:srgbClr val="F1F5F9"/>
                </a:solidFill>
                <a:latin typeface="Calibri"/>
              </a:defRPr>
            </a:pPr>
            <a:r>
              <a:t>No Clear Path</a:t>
            </a:r>
          </a:p>
        </p:txBody>
      </p:sp>
      <p:sp>
        <p:nvSpPr>
          <p:cNvPr id="21" name="TextBox 20"/>
          <p:cNvSpPr txBox="1"/>
          <p:nvPr/>
        </p:nvSpPr>
        <p:spPr>
          <a:xfrm>
            <a:off x="2103120" y="5303520"/>
            <a:ext cx="8686800" cy="640080"/>
          </a:xfrm>
          <a:prstGeom prst="rect">
            <a:avLst/>
          </a:prstGeom>
          <a:noFill/>
        </p:spPr>
        <p:txBody>
          <a:bodyPr wrap="square" anchor="t">
            <a:spAutoFit/>
          </a:bodyPr>
          <a:lstStyle/>
          <a:p>
            <a:pPr algn="l">
              <a:defRPr sz="1300" b="0">
                <a:solidFill>
                  <a:srgbClr val="64748B"/>
                </a:solidFill>
                <a:latin typeface="Calibri"/>
              </a:defRPr>
            </a:pPr>
            <a:r>
              <a:t>Students don't know what to learn first or in what order. They need a structured, step-by-step learning plan.</a:t>
            </a:r>
          </a:p>
        </p:txBody>
      </p:sp>
      <p:sp>
        <p:nvSpPr>
          <p:cNvPr id="22" name="TextBox 21"/>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3657600"/>
            <a:ext cx="3200400" cy="3200400"/>
          </a:xfrm>
          <a:prstGeom prst="ellipse">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03 — OBJECTIVES</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Project Objectives</a:t>
            </a:r>
          </a:p>
        </p:txBody>
      </p:sp>
      <p:sp>
        <p:nvSpPr>
          <p:cNvPr id="7" name="Rounded Rectangle 6"/>
          <p:cNvSpPr/>
          <p:nvPr/>
        </p:nvSpPr>
        <p:spPr>
          <a:xfrm>
            <a:off x="96012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43000" y="2103120"/>
            <a:ext cx="594360" cy="59436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594360" cy="594360"/>
          </a:xfrm>
          <a:prstGeom prst="rect">
            <a:avLst/>
          </a:prstGeom>
          <a:noFill/>
        </p:spPr>
        <p:txBody>
          <a:bodyPr wrap="square" anchor="ctr">
            <a:spAutoFit/>
          </a:bodyPr>
          <a:lstStyle/>
          <a:p>
            <a:pPr algn="ctr">
              <a:defRPr sz="1800" b="1">
                <a:solidFill>
                  <a:srgbClr val="090E1D"/>
                </a:solidFill>
                <a:latin typeface="Calibri"/>
              </a:defRPr>
            </a:pPr>
            <a:r>
              <a:t>1</a:t>
            </a:r>
          </a:p>
        </p:txBody>
      </p:sp>
      <p:sp>
        <p:nvSpPr>
          <p:cNvPr id="10" name="TextBox 9"/>
          <p:cNvSpPr txBox="1"/>
          <p:nvPr/>
        </p:nvSpPr>
        <p:spPr>
          <a:xfrm>
            <a:off x="1920240" y="2011680"/>
            <a:ext cx="3840480" cy="365760"/>
          </a:xfrm>
          <a:prstGeom prst="rect">
            <a:avLst/>
          </a:prstGeom>
          <a:noFill/>
        </p:spPr>
        <p:txBody>
          <a:bodyPr wrap="square" anchor="t">
            <a:spAutoFit/>
          </a:bodyPr>
          <a:lstStyle/>
          <a:p>
            <a:pPr algn="l">
              <a:defRPr sz="1500" b="1">
                <a:solidFill>
                  <a:srgbClr val="F1F5F9"/>
                </a:solidFill>
                <a:latin typeface="Calibri"/>
              </a:defRPr>
            </a:pPr>
            <a:r>
              <a:t>Provide AI-powered answers</a:t>
            </a:r>
          </a:p>
        </p:txBody>
      </p:sp>
      <p:sp>
        <p:nvSpPr>
          <p:cNvPr id="11" name="TextBox 10"/>
          <p:cNvSpPr txBox="1"/>
          <p:nvPr/>
        </p:nvSpPr>
        <p:spPr>
          <a:xfrm>
            <a:off x="1920240" y="2423160"/>
            <a:ext cx="3840480" cy="457200"/>
          </a:xfrm>
          <a:prstGeom prst="rect">
            <a:avLst/>
          </a:prstGeom>
          <a:noFill/>
        </p:spPr>
        <p:txBody>
          <a:bodyPr wrap="square" anchor="t">
            <a:spAutoFit/>
          </a:bodyPr>
          <a:lstStyle/>
          <a:p>
            <a:pPr algn="l">
              <a:defRPr sz="1200" b="0">
                <a:solidFill>
                  <a:srgbClr val="64748B"/>
                </a:solidFill>
                <a:latin typeface="Calibri"/>
              </a:defRPr>
            </a:pPr>
            <a:r>
              <a:t>to student questions using Google Gemini</a:t>
            </a:r>
          </a:p>
        </p:txBody>
      </p:sp>
      <p:sp>
        <p:nvSpPr>
          <p:cNvPr id="12" name="Rounded Rectangle 11"/>
          <p:cNvSpPr/>
          <p:nvPr/>
        </p:nvSpPr>
        <p:spPr>
          <a:xfrm>
            <a:off x="626364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2103120"/>
            <a:ext cx="594360" cy="594360"/>
          </a:xfrm>
          <a:prstGeom prst="roundRect">
            <a:avLst>
              <a:gd name="adj" fmla="val 8000"/>
            </a:avLst>
          </a:prstGeom>
          <a:gradFill rotWithShape="1">
            <a:gsLst>
              <a:gs pos="0">
                <a:srgbClr val="23CBDC"/>
              </a:gs>
              <a:gs pos="100000">
                <a:srgbClr val="8B7CFF"/>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103120"/>
            <a:ext cx="594360" cy="594360"/>
          </a:xfrm>
          <a:prstGeom prst="rect">
            <a:avLst/>
          </a:prstGeom>
          <a:noFill/>
        </p:spPr>
        <p:txBody>
          <a:bodyPr wrap="square" anchor="ctr">
            <a:spAutoFit/>
          </a:bodyPr>
          <a:lstStyle/>
          <a:p>
            <a:pPr algn="ctr">
              <a:defRPr sz="1800" b="1">
                <a:solidFill>
                  <a:srgbClr val="090E1D"/>
                </a:solidFill>
                <a:latin typeface="Calibri"/>
              </a:defRPr>
            </a:pPr>
            <a:r>
              <a:t>2</a:t>
            </a:r>
          </a:p>
        </p:txBody>
      </p:sp>
      <p:sp>
        <p:nvSpPr>
          <p:cNvPr id="15" name="TextBox 14"/>
          <p:cNvSpPr txBox="1"/>
          <p:nvPr/>
        </p:nvSpPr>
        <p:spPr>
          <a:xfrm>
            <a:off x="7223760" y="2011680"/>
            <a:ext cx="3840480" cy="365760"/>
          </a:xfrm>
          <a:prstGeom prst="rect">
            <a:avLst/>
          </a:prstGeom>
          <a:noFill/>
        </p:spPr>
        <p:txBody>
          <a:bodyPr wrap="square" anchor="t">
            <a:spAutoFit/>
          </a:bodyPr>
          <a:lstStyle/>
          <a:p>
            <a:pPr algn="l">
              <a:defRPr sz="1500" b="1">
                <a:solidFill>
                  <a:srgbClr val="F1F5F9"/>
                </a:solidFill>
                <a:latin typeface="Calibri"/>
              </a:defRPr>
            </a:pPr>
            <a:r>
              <a:t>Simplify complex concepts</a:t>
            </a:r>
          </a:p>
        </p:txBody>
      </p:sp>
      <p:sp>
        <p:nvSpPr>
          <p:cNvPr id="16" name="TextBox 15"/>
          <p:cNvSpPr txBox="1"/>
          <p:nvPr/>
        </p:nvSpPr>
        <p:spPr>
          <a:xfrm>
            <a:off x="7223760" y="2423160"/>
            <a:ext cx="3840480" cy="457200"/>
          </a:xfrm>
          <a:prstGeom prst="rect">
            <a:avLst/>
          </a:prstGeom>
          <a:noFill/>
        </p:spPr>
        <p:txBody>
          <a:bodyPr wrap="square" anchor="t">
            <a:spAutoFit/>
          </a:bodyPr>
          <a:lstStyle/>
          <a:p>
            <a:pPr algn="l">
              <a:defRPr sz="1200" b="0">
                <a:solidFill>
                  <a:srgbClr val="64748B"/>
                </a:solidFill>
                <a:latin typeface="Calibri"/>
              </a:defRPr>
            </a:pPr>
            <a:r>
              <a:t>with structured explanations and analogies</a:t>
            </a:r>
          </a:p>
        </p:txBody>
      </p:sp>
      <p:sp>
        <p:nvSpPr>
          <p:cNvPr id="17" name="Rounded Rectangle 16"/>
          <p:cNvSpPr/>
          <p:nvPr/>
        </p:nvSpPr>
        <p:spPr>
          <a:xfrm>
            <a:off x="96012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143000" y="3520440"/>
            <a:ext cx="594360" cy="594360"/>
          </a:xfrm>
          <a:prstGeom prst="roundRect">
            <a:avLst>
              <a:gd name="adj" fmla="val 8000"/>
            </a:avLst>
          </a:prstGeom>
          <a:gradFill rotWithShape="1">
            <a:gsLst>
              <a:gs pos="0">
                <a:srgbClr val="3B82F6"/>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520440"/>
            <a:ext cx="594360" cy="594360"/>
          </a:xfrm>
          <a:prstGeom prst="rect">
            <a:avLst/>
          </a:prstGeom>
          <a:noFill/>
        </p:spPr>
        <p:txBody>
          <a:bodyPr wrap="square" anchor="ctr">
            <a:spAutoFit/>
          </a:bodyPr>
          <a:lstStyle/>
          <a:p>
            <a:pPr algn="ctr">
              <a:defRPr sz="1800" b="1">
                <a:solidFill>
                  <a:srgbClr val="090E1D"/>
                </a:solidFill>
                <a:latin typeface="Calibri"/>
              </a:defRPr>
            </a:pPr>
            <a:r>
              <a:t>3</a:t>
            </a:r>
          </a:p>
        </p:txBody>
      </p:sp>
      <p:sp>
        <p:nvSpPr>
          <p:cNvPr id="20" name="TextBox 19"/>
          <p:cNvSpPr txBox="1"/>
          <p:nvPr/>
        </p:nvSpPr>
        <p:spPr>
          <a:xfrm>
            <a:off x="1920240" y="3429000"/>
            <a:ext cx="3840480" cy="365760"/>
          </a:xfrm>
          <a:prstGeom prst="rect">
            <a:avLst/>
          </a:prstGeom>
          <a:noFill/>
        </p:spPr>
        <p:txBody>
          <a:bodyPr wrap="square" anchor="t">
            <a:spAutoFit/>
          </a:bodyPr>
          <a:lstStyle/>
          <a:p>
            <a:pPr algn="l">
              <a:defRPr sz="1500" b="1">
                <a:solidFill>
                  <a:srgbClr val="F1F5F9"/>
                </a:solidFill>
                <a:latin typeface="Calibri"/>
              </a:defRPr>
            </a:pPr>
            <a:r>
              <a:t>Auto-generate quizzes</a:t>
            </a:r>
          </a:p>
        </p:txBody>
      </p:sp>
      <p:sp>
        <p:nvSpPr>
          <p:cNvPr id="21" name="TextBox 20"/>
          <p:cNvSpPr txBox="1"/>
          <p:nvPr/>
        </p:nvSpPr>
        <p:spPr>
          <a:xfrm>
            <a:off x="1920240" y="3840480"/>
            <a:ext cx="3840480" cy="457200"/>
          </a:xfrm>
          <a:prstGeom prst="rect">
            <a:avLst/>
          </a:prstGeom>
          <a:noFill/>
        </p:spPr>
        <p:txBody>
          <a:bodyPr wrap="square" anchor="t">
            <a:spAutoFit/>
          </a:bodyPr>
          <a:lstStyle/>
          <a:p>
            <a:pPr algn="l">
              <a:defRPr sz="1200" b="0">
                <a:solidFill>
                  <a:srgbClr val="64748B"/>
                </a:solidFill>
                <a:latin typeface="Calibri"/>
              </a:defRPr>
            </a:pPr>
            <a:r>
              <a:t>for self-assessment on any topic</a:t>
            </a:r>
          </a:p>
        </p:txBody>
      </p:sp>
      <p:sp>
        <p:nvSpPr>
          <p:cNvPr id="22" name="Rounded Rectangle 21"/>
          <p:cNvSpPr/>
          <p:nvPr/>
        </p:nvSpPr>
        <p:spPr>
          <a:xfrm>
            <a:off x="626364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46520" y="3520440"/>
            <a:ext cx="594360" cy="59436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520440"/>
            <a:ext cx="594360" cy="594360"/>
          </a:xfrm>
          <a:prstGeom prst="rect">
            <a:avLst/>
          </a:prstGeom>
          <a:noFill/>
        </p:spPr>
        <p:txBody>
          <a:bodyPr wrap="square" anchor="ctr">
            <a:spAutoFit/>
          </a:bodyPr>
          <a:lstStyle/>
          <a:p>
            <a:pPr algn="ctr">
              <a:defRPr sz="1800" b="1">
                <a:solidFill>
                  <a:srgbClr val="090E1D"/>
                </a:solidFill>
                <a:latin typeface="Calibri"/>
              </a:defRPr>
            </a:pPr>
            <a:r>
              <a:t>4</a:t>
            </a:r>
          </a:p>
        </p:txBody>
      </p:sp>
      <p:sp>
        <p:nvSpPr>
          <p:cNvPr id="25" name="TextBox 24"/>
          <p:cNvSpPr txBox="1"/>
          <p:nvPr/>
        </p:nvSpPr>
        <p:spPr>
          <a:xfrm>
            <a:off x="7223760" y="3429000"/>
            <a:ext cx="3840480" cy="365760"/>
          </a:xfrm>
          <a:prstGeom prst="rect">
            <a:avLst/>
          </a:prstGeom>
          <a:noFill/>
        </p:spPr>
        <p:txBody>
          <a:bodyPr wrap="square" anchor="t">
            <a:spAutoFit/>
          </a:bodyPr>
          <a:lstStyle/>
          <a:p>
            <a:pPr algn="l">
              <a:defRPr sz="1500" b="1">
                <a:solidFill>
                  <a:srgbClr val="F1F5F9"/>
                </a:solidFill>
                <a:latin typeface="Calibri"/>
              </a:defRPr>
            </a:pPr>
            <a:r>
              <a:t>Summarize study material</a:t>
            </a:r>
          </a:p>
        </p:txBody>
      </p:sp>
      <p:sp>
        <p:nvSpPr>
          <p:cNvPr id="26" name="TextBox 25"/>
          <p:cNvSpPr txBox="1"/>
          <p:nvPr/>
        </p:nvSpPr>
        <p:spPr>
          <a:xfrm>
            <a:off x="7223760" y="3840480"/>
            <a:ext cx="3840480" cy="457200"/>
          </a:xfrm>
          <a:prstGeom prst="rect">
            <a:avLst/>
          </a:prstGeom>
          <a:noFill/>
        </p:spPr>
        <p:txBody>
          <a:bodyPr wrap="square" anchor="t">
            <a:spAutoFit/>
          </a:bodyPr>
          <a:lstStyle/>
          <a:p>
            <a:pPr algn="l">
              <a:defRPr sz="1200" b="0">
                <a:solidFill>
                  <a:srgbClr val="64748B"/>
                </a:solidFill>
                <a:latin typeface="Calibri"/>
              </a:defRPr>
            </a:pPr>
            <a:r>
              <a:t>into key points and takeaways</a:t>
            </a:r>
          </a:p>
        </p:txBody>
      </p:sp>
      <p:sp>
        <p:nvSpPr>
          <p:cNvPr id="27" name="Rounded Rectangle 26"/>
          <p:cNvSpPr/>
          <p:nvPr/>
        </p:nvSpPr>
        <p:spPr>
          <a:xfrm>
            <a:off x="96012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43000" y="4937760"/>
            <a:ext cx="594360" cy="594360"/>
          </a:xfrm>
          <a:prstGeom prst="roundRect">
            <a:avLst>
              <a:gd name="adj" fmla="val 8000"/>
            </a:avLst>
          </a:prstGeom>
          <a:gradFill rotWithShape="1">
            <a:gsLst>
              <a:gs pos="0">
                <a:srgbClr val="23CBDC"/>
              </a:gs>
              <a:gs pos="100000">
                <a:srgbClr val="8B7CFF"/>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3000" y="4937760"/>
            <a:ext cx="594360" cy="594360"/>
          </a:xfrm>
          <a:prstGeom prst="rect">
            <a:avLst/>
          </a:prstGeom>
          <a:noFill/>
        </p:spPr>
        <p:txBody>
          <a:bodyPr wrap="square" anchor="ctr">
            <a:spAutoFit/>
          </a:bodyPr>
          <a:lstStyle/>
          <a:p>
            <a:pPr algn="ctr">
              <a:defRPr sz="1800" b="1">
                <a:solidFill>
                  <a:srgbClr val="090E1D"/>
                </a:solidFill>
                <a:latin typeface="Calibri"/>
              </a:defRPr>
            </a:pPr>
            <a:r>
              <a:t>5</a:t>
            </a:r>
          </a:p>
        </p:txBody>
      </p:sp>
      <p:sp>
        <p:nvSpPr>
          <p:cNvPr id="30" name="TextBox 29"/>
          <p:cNvSpPr txBox="1"/>
          <p:nvPr/>
        </p:nvSpPr>
        <p:spPr>
          <a:xfrm>
            <a:off x="1920240" y="4846320"/>
            <a:ext cx="3840480" cy="365760"/>
          </a:xfrm>
          <a:prstGeom prst="rect">
            <a:avLst/>
          </a:prstGeom>
          <a:noFill/>
        </p:spPr>
        <p:txBody>
          <a:bodyPr wrap="square" anchor="t">
            <a:spAutoFit/>
          </a:bodyPr>
          <a:lstStyle/>
          <a:p>
            <a:pPr algn="l">
              <a:defRPr sz="1500" b="1">
                <a:solidFill>
                  <a:srgbClr val="F1F5F9"/>
                </a:solidFill>
                <a:latin typeface="Calibri"/>
              </a:defRPr>
            </a:pPr>
            <a:r>
              <a:t>Create learning paths</a:t>
            </a:r>
          </a:p>
        </p:txBody>
      </p:sp>
      <p:sp>
        <p:nvSpPr>
          <p:cNvPr id="31" name="TextBox 30"/>
          <p:cNvSpPr txBox="1"/>
          <p:nvPr/>
        </p:nvSpPr>
        <p:spPr>
          <a:xfrm>
            <a:off x="1920240" y="5257800"/>
            <a:ext cx="3840480" cy="457200"/>
          </a:xfrm>
          <a:prstGeom prst="rect">
            <a:avLst/>
          </a:prstGeom>
          <a:noFill/>
        </p:spPr>
        <p:txBody>
          <a:bodyPr wrap="square" anchor="t">
            <a:spAutoFit/>
          </a:bodyPr>
          <a:lstStyle/>
          <a:p>
            <a:pPr algn="l">
              <a:defRPr sz="1200" b="0">
                <a:solidFill>
                  <a:srgbClr val="64748B"/>
                </a:solidFill>
                <a:latin typeface="Calibri"/>
              </a:defRPr>
            </a:pPr>
            <a:r>
              <a:t>with step-by-step guidance and resources</a:t>
            </a:r>
          </a:p>
        </p:txBody>
      </p:sp>
      <p:sp>
        <p:nvSpPr>
          <p:cNvPr id="32" name="Rounded Rectangle 31"/>
          <p:cNvSpPr/>
          <p:nvPr/>
        </p:nvSpPr>
        <p:spPr>
          <a:xfrm>
            <a:off x="626364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46520" y="4937760"/>
            <a:ext cx="594360" cy="594360"/>
          </a:xfrm>
          <a:prstGeom prst="roundRect">
            <a:avLst>
              <a:gd name="adj" fmla="val 8000"/>
            </a:avLst>
          </a:prstGeom>
          <a:gradFill rotWithShape="1">
            <a:gsLst>
              <a:gs pos="0">
                <a:srgbClr val="3B82F6"/>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4937760"/>
            <a:ext cx="594360" cy="594360"/>
          </a:xfrm>
          <a:prstGeom prst="rect">
            <a:avLst/>
          </a:prstGeom>
          <a:noFill/>
        </p:spPr>
        <p:txBody>
          <a:bodyPr wrap="square" anchor="ctr">
            <a:spAutoFit/>
          </a:bodyPr>
          <a:lstStyle/>
          <a:p>
            <a:pPr algn="ctr">
              <a:defRPr sz="1800" b="1">
                <a:solidFill>
                  <a:srgbClr val="090E1D"/>
                </a:solidFill>
                <a:latin typeface="Calibri"/>
              </a:defRPr>
            </a:pPr>
            <a:r>
              <a:t>6</a:t>
            </a:r>
          </a:p>
        </p:txBody>
      </p:sp>
      <p:sp>
        <p:nvSpPr>
          <p:cNvPr id="35" name="TextBox 34"/>
          <p:cNvSpPr txBox="1"/>
          <p:nvPr/>
        </p:nvSpPr>
        <p:spPr>
          <a:xfrm>
            <a:off x="7223760" y="4846320"/>
            <a:ext cx="3840480" cy="365760"/>
          </a:xfrm>
          <a:prstGeom prst="rect">
            <a:avLst/>
          </a:prstGeom>
          <a:noFill/>
        </p:spPr>
        <p:txBody>
          <a:bodyPr wrap="square" anchor="t">
            <a:spAutoFit/>
          </a:bodyPr>
          <a:lstStyle/>
          <a:p>
            <a:pPr algn="l">
              <a:defRPr sz="1500" b="1">
                <a:solidFill>
                  <a:srgbClr val="F1F5F9"/>
                </a:solidFill>
                <a:latin typeface="Calibri"/>
              </a:defRPr>
            </a:pPr>
            <a:r>
              <a:t>Ensure accessibility</a:t>
            </a:r>
          </a:p>
        </p:txBody>
      </p:sp>
      <p:sp>
        <p:nvSpPr>
          <p:cNvPr id="36" name="TextBox 35"/>
          <p:cNvSpPr txBox="1"/>
          <p:nvPr/>
        </p:nvSpPr>
        <p:spPr>
          <a:xfrm>
            <a:off x="7223760" y="5257800"/>
            <a:ext cx="3840480" cy="457200"/>
          </a:xfrm>
          <a:prstGeom prst="rect">
            <a:avLst/>
          </a:prstGeom>
          <a:noFill/>
        </p:spPr>
        <p:txBody>
          <a:bodyPr wrap="square" anchor="t">
            <a:spAutoFit/>
          </a:bodyPr>
          <a:lstStyle/>
          <a:p>
            <a:pPr algn="l">
              <a:defRPr sz="1200" b="0">
                <a:solidFill>
                  <a:srgbClr val="64748B"/>
                </a:solidFill>
                <a:latin typeface="Calibri"/>
              </a:defRPr>
            </a:pPr>
            <a:r>
              <a:t>with offline fallback and responsive design</a:t>
            </a:r>
          </a:p>
        </p:txBody>
      </p:sp>
      <p:sp>
        <p:nvSpPr>
          <p:cNvPr id="37" name="TextBox 36"/>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914400"/>
            <a:ext cx="3657600" cy="3657600"/>
          </a:xfrm>
          <a:prstGeom prst="ellipse">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04 — TECHNOLOGIES USED</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Technology Stack</a:t>
            </a:r>
          </a:p>
        </p:txBody>
      </p:sp>
      <p:sp>
        <p:nvSpPr>
          <p:cNvPr id="7" name="Rounded Rectangle 6"/>
          <p:cNvSpPr/>
          <p:nvPr/>
        </p:nvSpPr>
        <p:spPr>
          <a:xfrm>
            <a:off x="960120" y="182880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1965960"/>
            <a:ext cx="731520" cy="36576"/>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103120"/>
            <a:ext cx="2834640" cy="320040"/>
          </a:xfrm>
          <a:prstGeom prst="rect">
            <a:avLst/>
          </a:prstGeom>
          <a:noFill/>
        </p:spPr>
        <p:txBody>
          <a:bodyPr wrap="square" anchor="t">
            <a:spAutoFit/>
          </a:bodyPr>
          <a:lstStyle/>
          <a:p>
            <a:pPr algn="l">
              <a:defRPr sz="1000" b="1">
                <a:solidFill>
                  <a:srgbClr val="8B7CFF"/>
                </a:solidFill>
                <a:latin typeface="Calibri"/>
              </a:defRPr>
            </a:pPr>
            <a:r>
              <a:t>Frontend</a:t>
            </a:r>
          </a:p>
        </p:txBody>
      </p:sp>
      <p:sp>
        <p:nvSpPr>
          <p:cNvPr id="10" name="TextBox 9"/>
          <p:cNvSpPr txBox="1"/>
          <p:nvPr/>
        </p:nvSpPr>
        <p:spPr>
          <a:xfrm>
            <a:off x="1188720" y="251460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React 18</a:t>
            </a:r>
          </a:p>
          <a:p>
            <a:pPr algn="l">
              <a:spcAft>
                <a:spcPts val="600"/>
              </a:spcAft>
              <a:defRPr sz="1400" b="0">
                <a:solidFill>
                  <a:srgbClr val="CBD5E1"/>
                </a:solidFill>
                <a:latin typeface="Calibri"/>
              </a:defRPr>
            </a:pPr>
            <a:r>
              <a:t>TypeScript</a:t>
            </a:r>
          </a:p>
          <a:p>
            <a:pPr algn="l">
              <a:spcAft>
                <a:spcPts val="600"/>
              </a:spcAft>
              <a:defRPr sz="1300" b="0">
                <a:solidFill>
                  <a:srgbClr val="64748B"/>
                </a:solidFill>
                <a:latin typeface="Calibri"/>
              </a:defRPr>
            </a:pPr>
            <a:r>
              <a:t>Tailwind CSS</a:t>
            </a:r>
          </a:p>
        </p:txBody>
      </p:sp>
      <p:sp>
        <p:nvSpPr>
          <p:cNvPr id="11" name="Rounded Rectangle 10"/>
          <p:cNvSpPr/>
          <p:nvPr/>
        </p:nvSpPr>
        <p:spPr>
          <a:xfrm>
            <a:off x="4572000" y="182880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09160" y="1965960"/>
            <a:ext cx="731520" cy="36576"/>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103120"/>
            <a:ext cx="2834640" cy="320040"/>
          </a:xfrm>
          <a:prstGeom prst="rect">
            <a:avLst/>
          </a:prstGeom>
          <a:noFill/>
        </p:spPr>
        <p:txBody>
          <a:bodyPr wrap="square" anchor="t">
            <a:spAutoFit/>
          </a:bodyPr>
          <a:lstStyle/>
          <a:p>
            <a:pPr algn="l">
              <a:defRPr sz="1000" b="1">
                <a:solidFill>
                  <a:srgbClr val="23CBDC"/>
                </a:solidFill>
                <a:latin typeface="Calibri"/>
              </a:defRPr>
            </a:pPr>
            <a:r>
              <a:t>Backend</a:t>
            </a:r>
          </a:p>
        </p:txBody>
      </p:sp>
      <p:sp>
        <p:nvSpPr>
          <p:cNvPr id="14" name="TextBox 13"/>
          <p:cNvSpPr txBox="1"/>
          <p:nvPr/>
        </p:nvSpPr>
        <p:spPr>
          <a:xfrm>
            <a:off x="4800600" y="251460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Python</a:t>
            </a:r>
          </a:p>
          <a:p>
            <a:pPr algn="l">
              <a:spcAft>
                <a:spcPts val="600"/>
              </a:spcAft>
              <a:defRPr sz="1400" b="0">
                <a:solidFill>
                  <a:srgbClr val="CBD5E1"/>
                </a:solidFill>
                <a:latin typeface="Calibri"/>
              </a:defRPr>
            </a:pPr>
            <a:r>
              <a:t>FastAPI</a:t>
            </a:r>
          </a:p>
          <a:p>
            <a:pPr algn="l">
              <a:spcAft>
                <a:spcPts val="600"/>
              </a:spcAft>
              <a:defRPr sz="1300" b="0">
                <a:solidFill>
                  <a:srgbClr val="64748B"/>
                </a:solidFill>
                <a:latin typeface="Calibri"/>
              </a:defRPr>
            </a:pPr>
            <a:r>
              <a:t>Uvicorn</a:t>
            </a:r>
          </a:p>
        </p:txBody>
      </p:sp>
      <p:sp>
        <p:nvSpPr>
          <p:cNvPr id="15" name="Rounded Rectangle 14"/>
          <p:cNvSpPr/>
          <p:nvPr/>
        </p:nvSpPr>
        <p:spPr>
          <a:xfrm>
            <a:off x="8183880" y="182880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1965960"/>
            <a:ext cx="731520" cy="365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103120"/>
            <a:ext cx="2834640" cy="320040"/>
          </a:xfrm>
          <a:prstGeom prst="rect">
            <a:avLst/>
          </a:prstGeom>
          <a:noFill/>
        </p:spPr>
        <p:txBody>
          <a:bodyPr wrap="square" anchor="t">
            <a:spAutoFit/>
          </a:bodyPr>
          <a:lstStyle/>
          <a:p>
            <a:pPr algn="l">
              <a:defRPr sz="1000" b="1">
                <a:solidFill>
                  <a:srgbClr val="3B82F6"/>
                </a:solidFill>
                <a:latin typeface="Calibri"/>
              </a:defRPr>
            </a:pPr>
            <a:r>
              <a:t>AI Engine</a:t>
            </a:r>
          </a:p>
        </p:txBody>
      </p:sp>
      <p:sp>
        <p:nvSpPr>
          <p:cNvPr id="18" name="TextBox 17"/>
          <p:cNvSpPr txBox="1"/>
          <p:nvPr/>
        </p:nvSpPr>
        <p:spPr>
          <a:xfrm>
            <a:off x="8412480" y="251460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Google Gemini</a:t>
            </a:r>
          </a:p>
          <a:p>
            <a:pPr algn="l">
              <a:spcAft>
                <a:spcPts val="600"/>
              </a:spcAft>
              <a:defRPr sz="1400" b="0">
                <a:solidFill>
                  <a:srgbClr val="CBD5E1"/>
                </a:solidFill>
                <a:latin typeface="Calibri"/>
              </a:defRPr>
            </a:pPr>
            <a:r>
              <a:t>gemini-1.5-flash</a:t>
            </a:r>
          </a:p>
          <a:p>
            <a:pPr algn="l">
              <a:spcAft>
                <a:spcPts val="600"/>
              </a:spcAft>
              <a:defRPr sz="1300" b="0">
                <a:solidFill>
                  <a:srgbClr val="64748B"/>
                </a:solidFill>
                <a:latin typeface="Calibri"/>
              </a:defRPr>
            </a:pPr>
            <a:r>
              <a:t>API Integration</a:t>
            </a:r>
          </a:p>
        </p:txBody>
      </p:sp>
      <p:sp>
        <p:nvSpPr>
          <p:cNvPr id="19" name="Rounded Rectangle 18"/>
          <p:cNvSpPr/>
          <p:nvPr/>
        </p:nvSpPr>
        <p:spPr>
          <a:xfrm>
            <a:off x="960120" y="402336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80" y="4160520"/>
            <a:ext cx="731520" cy="36576"/>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297680"/>
            <a:ext cx="2834640" cy="320040"/>
          </a:xfrm>
          <a:prstGeom prst="rect">
            <a:avLst/>
          </a:prstGeom>
          <a:noFill/>
        </p:spPr>
        <p:txBody>
          <a:bodyPr wrap="square" anchor="t">
            <a:spAutoFit/>
          </a:bodyPr>
          <a:lstStyle/>
          <a:p>
            <a:pPr algn="l">
              <a:defRPr sz="1000" b="1">
                <a:solidFill>
                  <a:srgbClr val="8B7CFF"/>
                </a:solidFill>
                <a:latin typeface="Calibri"/>
              </a:defRPr>
            </a:pPr>
            <a:r>
              <a:t>Database</a:t>
            </a:r>
          </a:p>
        </p:txBody>
      </p:sp>
      <p:sp>
        <p:nvSpPr>
          <p:cNvPr id="22" name="TextBox 21"/>
          <p:cNvSpPr txBox="1"/>
          <p:nvPr/>
        </p:nvSpPr>
        <p:spPr>
          <a:xfrm>
            <a:off x="1188720" y="470916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Supabase</a:t>
            </a:r>
          </a:p>
          <a:p>
            <a:pPr algn="l">
              <a:spcAft>
                <a:spcPts val="600"/>
              </a:spcAft>
              <a:defRPr sz="1400" b="0">
                <a:solidFill>
                  <a:srgbClr val="CBD5E1"/>
                </a:solidFill>
                <a:latin typeface="Calibri"/>
              </a:defRPr>
            </a:pPr>
            <a:r>
              <a:t>PostgreSQL</a:t>
            </a:r>
          </a:p>
          <a:p>
            <a:pPr algn="l">
              <a:spcAft>
                <a:spcPts val="600"/>
              </a:spcAft>
              <a:defRPr sz="1300" b="0">
                <a:solidFill>
                  <a:srgbClr val="64748B"/>
                </a:solidFill>
                <a:latin typeface="Calibri"/>
              </a:defRPr>
            </a:pPr>
            <a:r>
              <a:t>Study History</a:t>
            </a:r>
          </a:p>
        </p:txBody>
      </p:sp>
      <p:sp>
        <p:nvSpPr>
          <p:cNvPr id="23" name="Rounded Rectangle 22"/>
          <p:cNvSpPr/>
          <p:nvPr/>
        </p:nvSpPr>
        <p:spPr>
          <a:xfrm>
            <a:off x="4572000" y="402336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09160" y="4160520"/>
            <a:ext cx="731520" cy="36576"/>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4297680"/>
            <a:ext cx="2834640" cy="320040"/>
          </a:xfrm>
          <a:prstGeom prst="rect">
            <a:avLst/>
          </a:prstGeom>
          <a:noFill/>
        </p:spPr>
        <p:txBody>
          <a:bodyPr wrap="square" anchor="t">
            <a:spAutoFit/>
          </a:bodyPr>
          <a:lstStyle/>
          <a:p>
            <a:pPr algn="l">
              <a:defRPr sz="1000" b="1">
                <a:solidFill>
                  <a:srgbClr val="23CBDC"/>
                </a:solidFill>
                <a:latin typeface="Calibri"/>
              </a:defRPr>
            </a:pPr>
            <a:r>
              <a:t>Build Tool</a:t>
            </a:r>
          </a:p>
        </p:txBody>
      </p:sp>
      <p:sp>
        <p:nvSpPr>
          <p:cNvPr id="26" name="TextBox 25"/>
          <p:cNvSpPr txBox="1"/>
          <p:nvPr/>
        </p:nvSpPr>
        <p:spPr>
          <a:xfrm>
            <a:off x="4800600" y="470916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Vite 5</a:t>
            </a:r>
          </a:p>
          <a:p>
            <a:pPr algn="l">
              <a:spcAft>
                <a:spcPts val="600"/>
              </a:spcAft>
              <a:defRPr sz="1400" b="0">
                <a:solidFill>
                  <a:srgbClr val="CBD5E1"/>
                </a:solidFill>
                <a:latin typeface="Calibri"/>
              </a:defRPr>
            </a:pPr>
            <a:r>
              <a:t>ESLint</a:t>
            </a:r>
          </a:p>
          <a:p>
            <a:pPr algn="l">
              <a:spcAft>
                <a:spcPts val="600"/>
              </a:spcAft>
              <a:defRPr sz="1300" b="0">
                <a:solidFill>
                  <a:srgbClr val="64748B"/>
                </a:solidFill>
                <a:latin typeface="Calibri"/>
              </a:defRPr>
            </a:pPr>
            <a:r>
              <a:t>TypeScript</a:t>
            </a:r>
          </a:p>
        </p:txBody>
      </p:sp>
      <p:sp>
        <p:nvSpPr>
          <p:cNvPr id="27" name="Rounded Rectangle 26"/>
          <p:cNvSpPr/>
          <p:nvPr/>
        </p:nvSpPr>
        <p:spPr>
          <a:xfrm>
            <a:off x="8183880" y="4023360"/>
            <a:ext cx="3291840" cy="1920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40" y="4160520"/>
            <a:ext cx="731520" cy="3657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4297680"/>
            <a:ext cx="2834640" cy="320040"/>
          </a:xfrm>
          <a:prstGeom prst="rect">
            <a:avLst/>
          </a:prstGeom>
          <a:noFill/>
        </p:spPr>
        <p:txBody>
          <a:bodyPr wrap="square" anchor="t">
            <a:spAutoFit/>
          </a:bodyPr>
          <a:lstStyle/>
          <a:p>
            <a:pPr algn="l">
              <a:defRPr sz="1000" b="1">
                <a:solidFill>
                  <a:srgbClr val="3B82F6"/>
                </a:solidFill>
                <a:latin typeface="Calibri"/>
              </a:defRPr>
            </a:pPr>
            <a:r>
              <a:t>Design</a:t>
            </a:r>
          </a:p>
        </p:txBody>
      </p:sp>
      <p:sp>
        <p:nvSpPr>
          <p:cNvPr id="30" name="TextBox 29"/>
          <p:cNvSpPr txBox="1"/>
          <p:nvPr/>
        </p:nvSpPr>
        <p:spPr>
          <a:xfrm>
            <a:off x="8412480" y="4709160"/>
            <a:ext cx="2834640" cy="1097280"/>
          </a:xfrm>
          <a:prstGeom prst="rect">
            <a:avLst/>
          </a:prstGeom>
          <a:noFill/>
        </p:spPr>
        <p:txBody>
          <a:bodyPr wrap="square" anchor="t">
            <a:spAutoFit/>
          </a:bodyPr>
          <a:lstStyle/>
          <a:p>
            <a:pPr algn="l">
              <a:spcAft>
                <a:spcPts val="600"/>
              </a:spcAft>
              <a:defRPr sz="1500" b="1">
                <a:solidFill>
                  <a:srgbClr val="F1F5F9"/>
                </a:solidFill>
                <a:latin typeface="Calibri"/>
              </a:defRPr>
            </a:pPr>
            <a:r>
              <a:t>Glassmorphism</a:t>
            </a:r>
          </a:p>
          <a:p>
            <a:pPr algn="l">
              <a:spcAft>
                <a:spcPts val="600"/>
              </a:spcAft>
              <a:defRPr sz="1400" b="0">
                <a:solidFill>
                  <a:srgbClr val="CBD5E1"/>
                </a:solidFill>
                <a:latin typeface="Calibri"/>
              </a:defRPr>
            </a:pPr>
            <a:r>
              <a:t>Responsive UI</a:t>
            </a:r>
          </a:p>
          <a:p>
            <a:pPr algn="l">
              <a:spcAft>
                <a:spcPts val="600"/>
              </a:spcAft>
              <a:defRPr sz="1300" b="0">
                <a:solidFill>
                  <a:srgbClr val="64748B"/>
                </a:solidFill>
                <a:latin typeface="Calibri"/>
              </a:defRPr>
            </a:pPr>
            <a:r>
              <a:t>Dark Theme</a:t>
            </a:r>
          </a:p>
        </p:txBody>
      </p:sp>
      <p:sp>
        <p:nvSpPr>
          <p:cNvPr id="31" name="TextBox 30"/>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05 — SYSTEM ARCHITECTURE</a:t>
            </a:r>
          </a:p>
        </p:txBody>
      </p:sp>
      <p:sp>
        <p:nvSpPr>
          <p:cNvPr id="4" name="Rounded Rectangle 3"/>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How EduGenie Works</a:t>
            </a:r>
          </a:p>
        </p:txBody>
      </p:sp>
      <p:sp>
        <p:nvSpPr>
          <p:cNvPr id="6" name="Rounded Rectangle 5"/>
          <p:cNvSpPr/>
          <p:nvPr/>
        </p:nvSpPr>
        <p:spPr>
          <a:xfrm>
            <a:off x="731520" y="2011680"/>
            <a:ext cx="3200400" cy="3200400"/>
          </a:xfrm>
          <a:prstGeom prst="roundRect">
            <a:avLst>
              <a:gd name="adj" fmla="val 6000"/>
            </a:avLst>
          </a:prstGeom>
          <a:solidFill>
            <a:srgbClr val="0C1122"/>
          </a:solidFill>
          <a:ln w="12700">
            <a:solidFill>
              <a:srgbClr val="8B7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48840"/>
            <a:ext cx="3017520" cy="320040"/>
          </a:xfrm>
          <a:prstGeom prst="rect">
            <a:avLst/>
          </a:prstGeom>
          <a:noFill/>
        </p:spPr>
        <p:txBody>
          <a:bodyPr wrap="square" anchor="t">
            <a:spAutoFit/>
          </a:bodyPr>
          <a:lstStyle/>
          <a:p>
            <a:pPr algn="ctr">
              <a:defRPr sz="1000" b="1">
                <a:solidFill>
                  <a:srgbClr val="8B7CFF"/>
                </a:solidFill>
                <a:latin typeface="Calibri"/>
              </a:defRPr>
            </a:pPr>
            <a:r>
              <a:t>FRONTEND</a:t>
            </a:r>
          </a:p>
        </p:txBody>
      </p:sp>
      <p:sp>
        <p:nvSpPr>
          <p:cNvPr id="8" name="TextBox 7"/>
          <p:cNvSpPr txBox="1"/>
          <p:nvPr/>
        </p:nvSpPr>
        <p:spPr>
          <a:xfrm>
            <a:off x="822960" y="2560320"/>
            <a:ext cx="3017520" cy="457200"/>
          </a:xfrm>
          <a:prstGeom prst="rect">
            <a:avLst/>
          </a:prstGeom>
          <a:noFill/>
        </p:spPr>
        <p:txBody>
          <a:bodyPr wrap="square" anchor="t">
            <a:spAutoFit/>
          </a:bodyPr>
          <a:lstStyle/>
          <a:p>
            <a:pPr algn="ctr">
              <a:defRPr sz="2000" b="1">
                <a:solidFill>
                  <a:srgbClr val="F1F5F9"/>
                </a:solidFill>
                <a:latin typeface="Calibri"/>
              </a:defRPr>
            </a:pPr>
            <a:r>
              <a:t>React App</a:t>
            </a:r>
          </a:p>
        </p:txBody>
      </p:sp>
      <p:sp>
        <p:nvSpPr>
          <p:cNvPr id="9" name="TextBox 8"/>
          <p:cNvSpPr txBox="1"/>
          <p:nvPr/>
        </p:nvSpPr>
        <p:spPr>
          <a:xfrm>
            <a:off x="1005840" y="3108960"/>
            <a:ext cx="2651760" cy="2011680"/>
          </a:xfrm>
          <a:prstGeom prst="rect">
            <a:avLst/>
          </a:prstGeom>
          <a:noFill/>
        </p:spPr>
        <p:txBody>
          <a:bodyPr wrap="square" anchor="t">
            <a:spAutoFit/>
          </a:bodyPr>
          <a:lstStyle/>
          <a:p>
            <a:pPr algn="l">
              <a:spcAft>
                <a:spcPts val="600"/>
              </a:spcAft>
              <a:defRPr sz="1200" b="0">
                <a:solidFill>
                  <a:srgbClr val="CBD5E1"/>
                </a:solidFill>
                <a:latin typeface="Calibri"/>
              </a:defRPr>
            </a:pPr>
            <a:r>
              <a:t>• Dashboard UI</a:t>
            </a:r>
          </a:p>
          <a:p>
            <a:pPr algn="l">
              <a:spcAft>
                <a:spcPts val="600"/>
              </a:spcAft>
              <a:defRPr sz="1200" b="0">
                <a:solidFill>
                  <a:srgbClr val="CBD5E1"/>
                </a:solidFill>
                <a:latin typeface="Calibri"/>
              </a:defRPr>
            </a:pPr>
            <a:r>
              <a:t>• Feature Views</a:t>
            </a:r>
          </a:p>
          <a:p>
            <a:pPr algn="l">
              <a:spcAft>
                <a:spcPts val="600"/>
              </a:spcAft>
              <a:defRPr sz="1200" b="0">
                <a:solidFill>
                  <a:srgbClr val="CBD5E1"/>
                </a:solidFill>
                <a:latin typeface="Calibri"/>
              </a:defRPr>
            </a:pPr>
            <a:r>
              <a:t>• API Client</a:t>
            </a:r>
          </a:p>
          <a:p>
            <a:pPr algn="l">
              <a:spcAft>
                <a:spcPts val="600"/>
              </a:spcAft>
              <a:defRPr sz="1200" b="0">
                <a:solidFill>
                  <a:srgbClr val="CBD5E1"/>
                </a:solidFill>
                <a:latin typeface="Calibri"/>
              </a:defRPr>
            </a:pPr>
            <a:r>
              <a:t>• Offline Engine</a:t>
            </a:r>
          </a:p>
          <a:p>
            <a:pPr algn="l">
              <a:spcAft>
                <a:spcPts val="600"/>
              </a:spcAft>
              <a:defRPr sz="1200" b="0">
                <a:solidFill>
                  <a:srgbClr val="CBD5E1"/>
                </a:solidFill>
                <a:latin typeface="Calibri"/>
              </a:defRPr>
            </a:pPr>
            <a:r>
              <a:t>• Supabase Client</a:t>
            </a:r>
          </a:p>
          <a:p>
            <a:pPr algn="l">
              <a:spcAft>
                <a:spcPts val="600"/>
              </a:spcAft>
              <a:defRPr sz="1200" b="0">
                <a:solidFill>
                  <a:srgbClr val="64748B"/>
                </a:solidFill>
                <a:latin typeface="Calibri"/>
              </a:defRPr>
            </a:pPr>
            <a:r>
              <a:t>• Tailwind CSS</a:t>
            </a:r>
          </a:p>
        </p:txBody>
      </p:sp>
      <p:sp>
        <p:nvSpPr>
          <p:cNvPr id="10" name="TextBox 9"/>
          <p:cNvSpPr txBox="1"/>
          <p:nvPr/>
        </p:nvSpPr>
        <p:spPr>
          <a:xfrm>
            <a:off x="3931920" y="3291840"/>
            <a:ext cx="731520" cy="548640"/>
          </a:xfrm>
          <a:prstGeom prst="rect">
            <a:avLst/>
          </a:prstGeom>
          <a:noFill/>
        </p:spPr>
        <p:txBody>
          <a:bodyPr wrap="square" anchor="t">
            <a:spAutoFit/>
          </a:bodyPr>
          <a:lstStyle/>
          <a:p>
            <a:pPr algn="ctr">
              <a:defRPr sz="2800" b="1">
                <a:solidFill>
                  <a:srgbClr val="23CBDC"/>
                </a:solidFill>
                <a:latin typeface="Calibri"/>
              </a:defRPr>
            </a:pPr>
            <a:r>
              <a:t>→</a:t>
            </a:r>
          </a:p>
        </p:txBody>
      </p:sp>
      <p:sp>
        <p:nvSpPr>
          <p:cNvPr id="11" name="TextBox 10"/>
          <p:cNvSpPr txBox="1"/>
          <p:nvPr/>
        </p:nvSpPr>
        <p:spPr>
          <a:xfrm>
            <a:off x="3931920" y="3840480"/>
            <a:ext cx="731520" cy="365760"/>
          </a:xfrm>
          <a:prstGeom prst="rect">
            <a:avLst/>
          </a:prstGeom>
          <a:noFill/>
        </p:spPr>
        <p:txBody>
          <a:bodyPr wrap="square" anchor="t">
            <a:spAutoFit/>
          </a:bodyPr>
          <a:lstStyle/>
          <a:p>
            <a:pPr algn="ctr">
              <a:defRPr sz="900" b="0">
                <a:solidFill>
                  <a:srgbClr val="475569"/>
                </a:solidFill>
                <a:latin typeface="Calibri"/>
              </a:defRPr>
            </a:pPr>
            <a:r>
              <a:t>HTTP</a:t>
            </a:r>
          </a:p>
        </p:txBody>
      </p:sp>
      <p:sp>
        <p:nvSpPr>
          <p:cNvPr id="12" name="Rounded Rectangle 11"/>
          <p:cNvSpPr/>
          <p:nvPr/>
        </p:nvSpPr>
        <p:spPr>
          <a:xfrm>
            <a:off x="4663440" y="2011680"/>
            <a:ext cx="3200400" cy="3200400"/>
          </a:xfrm>
          <a:prstGeom prst="roundRect">
            <a:avLst>
              <a:gd name="adj" fmla="val 6000"/>
            </a:avLst>
          </a:prstGeom>
          <a:solidFill>
            <a:srgbClr val="0C1122"/>
          </a:solidFill>
          <a:ln w="12700">
            <a:solidFill>
              <a:srgbClr val="23CB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148840"/>
            <a:ext cx="3017520" cy="320040"/>
          </a:xfrm>
          <a:prstGeom prst="rect">
            <a:avLst/>
          </a:prstGeom>
          <a:noFill/>
        </p:spPr>
        <p:txBody>
          <a:bodyPr wrap="square" anchor="t">
            <a:spAutoFit/>
          </a:bodyPr>
          <a:lstStyle/>
          <a:p>
            <a:pPr algn="ctr">
              <a:defRPr sz="1000" b="1">
                <a:solidFill>
                  <a:srgbClr val="23CBDC"/>
                </a:solidFill>
                <a:latin typeface="Calibri"/>
              </a:defRPr>
            </a:pPr>
            <a:r>
              <a:t>BACKEND</a:t>
            </a:r>
          </a:p>
        </p:txBody>
      </p:sp>
      <p:sp>
        <p:nvSpPr>
          <p:cNvPr id="14" name="TextBox 13"/>
          <p:cNvSpPr txBox="1"/>
          <p:nvPr/>
        </p:nvSpPr>
        <p:spPr>
          <a:xfrm>
            <a:off x="4754880" y="2560320"/>
            <a:ext cx="3017520" cy="457200"/>
          </a:xfrm>
          <a:prstGeom prst="rect">
            <a:avLst/>
          </a:prstGeom>
          <a:noFill/>
        </p:spPr>
        <p:txBody>
          <a:bodyPr wrap="square" anchor="t">
            <a:spAutoFit/>
          </a:bodyPr>
          <a:lstStyle/>
          <a:p>
            <a:pPr algn="ctr">
              <a:defRPr sz="2000" b="1">
                <a:solidFill>
                  <a:srgbClr val="F1F5F9"/>
                </a:solidFill>
                <a:latin typeface="Calibri"/>
              </a:defRPr>
            </a:pPr>
            <a:r>
              <a:t>FastAPI Server</a:t>
            </a:r>
          </a:p>
        </p:txBody>
      </p:sp>
      <p:sp>
        <p:nvSpPr>
          <p:cNvPr id="15" name="TextBox 14"/>
          <p:cNvSpPr txBox="1"/>
          <p:nvPr/>
        </p:nvSpPr>
        <p:spPr>
          <a:xfrm>
            <a:off x="4937760" y="3108960"/>
            <a:ext cx="2651760" cy="2011680"/>
          </a:xfrm>
          <a:prstGeom prst="rect">
            <a:avLst/>
          </a:prstGeom>
          <a:noFill/>
        </p:spPr>
        <p:txBody>
          <a:bodyPr wrap="square" anchor="t">
            <a:spAutoFit/>
          </a:bodyPr>
          <a:lstStyle/>
          <a:p>
            <a:pPr algn="l">
              <a:spcAft>
                <a:spcPts val="600"/>
              </a:spcAft>
              <a:defRPr sz="1200" b="0">
                <a:solidFill>
                  <a:srgbClr val="CBD5E1"/>
                </a:solidFill>
                <a:latin typeface="Calibri"/>
              </a:defRPr>
            </a:pPr>
            <a:r>
              <a:t>• /api/qa</a:t>
            </a:r>
          </a:p>
          <a:p>
            <a:pPr algn="l">
              <a:spcAft>
                <a:spcPts val="600"/>
              </a:spcAft>
              <a:defRPr sz="1200" b="0">
                <a:solidFill>
                  <a:srgbClr val="CBD5E1"/>
                </a:solidFill>
                <a:latin typeface="Calibri"/>
              </a:defRPr>
            </a:pPr>
            <a:r>
              <a:t>• /api/explain</a:t>
            </a:r>
          </a:p>
          <a:p>
            <a:pPr algn="l">
              <a:spcAft>
                <a:spcPts val="600"/>
              </a:spcAft>
              <a:defRPr sz="1200" b="0">
                <a:solidFill>
                  <a:srgbClr val="CBD5E1"/>
                </a:solidFill>
                <a:latin typeface="Calibri"/>
              </a:defRPr>
            </a:pPr>
            <a:r>
              <a:t>• /api/quiz</a:t>
            </a:r>
          </a:p>
          <a:p>
            <a:pPr algn="l">
              <a:spcAft>
                <a:spcPts val="600"/>
              </a:spcAft>
              <a:defRPr sz="1200" b="0">
                <a:solidFill>
                  <a:srgbClr val="CBD5E1"/>
                </a:solidFill>
                <a:latin typeface="Calibri"/>
              </a:defRPr>
            </a:pPr>
            <a:r>
              <a:t>• /api/summarize</a:t>
            </a:r>
          </a:p>
          <a:p>
            <a:pPr algn="l">
              <a:spcAft>
                <a:spcPts val="600"/>
              </a:spcAft>
              <a:defRPr sz="1200" b="0">
                <a:solidFill>
                  <a:srgbClr val="CBD5E1"/>
                </a:solidFill>
                <a:latin typeface="Calibri"/>
              </a:defRPr>
            </a:pPr>
            <a:r>
              <a:t>• /api/learning-path</a:t>
            </a:r>
          </a:p>
          <a:p>
            <a:pPr algn="l">
              <a:spcAft>
                <a:spcPts val="600"/>
              </a:spcAft>
              <a:defRPr sz="1200" b="0">
                <a:solidFill>
                  <a:srgbClr val="64748B"/>
                </a:solidFill>
                <a:latin typeface="Calibri"/>
              </a:defRPr>
            </a:pPr>
            <a:r>
              <a:t>• /api/health</a:t>
            </a:r>
          </a:p>
        </p:txBody>
      </p:sp>
      <p:sp>
        <p:nvSpPr>
          <p:cNvPr id="16" name="TextBox 15"/>
          <p:cNvSpPr txBox="1"/>
          <p:nvPr/>
        </p:nvSpPr>
        <p:spPr>
          <a:xfrm>
            <a:off x="7863840" y="3291840"/>
            <a:ext cx="731520" cy="548640"/>
          </a:xfrm>
          <a:prstGeom prst="rect">
            <a:avLst/>
          </a:prstGeom>
          <a:noFill/>
        </p:spPr>
        <p:txBody>
          <a:bodyPr wrap="square" anchor="t">
            <a:spAutoFit/>
          </a:bodyPr>
          <a:lstStyle/>
          <a:p>
            <a:pPr algn="ctr">
              <a:defRPr sz="2800" b="1">
                <a:solidFill>
                  <a:srgbClr val="3B82F6"/>
                </a:solidFill>
                <a:latin typeface="Calibri"/>
              </a:defRPr>
            </a:pPr>
            <a:r>
              <a:t>→</a:t>
            </a:r>
          </a:p>
        </p:txBody>
      </p:sp>
      <p:sp>
        <p:nvSpPr>
          <p:cNvPr id="17" name="TextBox 16"/>
          <p:cNvSpPr txBox="1"/>
          <p:nvPr/>
        </p:nvSpPr>
        <p:spPr>
          <a:xfrm>
            <a:off x="7863840" y="3840480"/>
            <a:ext cx="731520" cy="365760"/>
          </a:xfrm>
          <a:prstGeom prst="rect">
            <a:avLst/>
          </a:prstGeom>
          <a:noFill/>
        </p:spPr>
        <p:txBody>
          <a:bodyPr wrap="square" anchor="t">
            <a:spAutoFit/>
          </a:bodyPr>
          <a:lstStyle/>
          <a:p>
            <a:pPr algn="ctr">
              <a:defRPr sz="900" b="0">
                <a:solidFill>
                  <a:srgbClr val="475569"/>
                </a:solidFill>
                <a:latin typeface="Calibri"/>
              </a:defRPr>
            </a:pPr>
            <a:r>
              <a:t>API</a:t>
            </a:r>
          </a:p>
        </p:txBody>
      </p:sp>
      <p:sp>
        <p:nvSpPr>
          <p:cNvPr id="18" name="Rounded Rectangle 17"/>
          <p:cNvSpPr/>
          <p:nvPr/>
        </p:nvSpPr>
        <p:spPr>
          <a:xfrm>
            <a:off x="8595360" y="2011680"/>
            <a:ext cx="3200400" cy="1463040"/>
          </a:xfrm>
          <a:prstGeom prst="roundRect">
            <a:avLst>
              <a:gd name="adj" fmla="val 6000"/>
            </a:avLst>
          </a:prstGeom>
          <a:solidFill>
            <a:srgbClr val="0C1122"/>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2148840"/>
            <a:ext cx="3017520" cy="320040"/>
          </a:xfrm>
          <a:prstGeom prst="rect">
            <a:avLst/>
          </a:prstGeom>
          <a:noFill/>
        </p:spPr>
        <p:txBody>
          <a:bodyPr wrap="square" anchor="t">
            <a:spAutoFit/>
          </a:bodyPr>
          <a:lstStyle/>
          <a:p>
            <a:pPr algn="ctr">
              <a:defRPr sz="1000" b="1">
                <a:solidFill>
                  <a:srgbClr val="3B82F6"/>
                </a:solidFill>
                <a:latin typeface="Calibri"/>
              </a:defRPr>
            </a:pPr>
            <a:r>
              <a:t>AI ENGINE</a:t>
            </a:r>
          </a:p>
        </p:txBody>
      </p:sp>
      <p:sp>
        <p:nvSpPr>
          <p:cNvPr id="20" name="TextBox 19"/>
          <p:cNvSpPr txBox="1"/>
          <p:nvPr/>
        </p:nvSpPr>
        <p:spPr>
          <a:xfrm>
            <a:off x="8686800" y="2560320"/>
            <a:ext cx="3017520" cy="457200"/>
          </a:xfrm>
          <a:prstGeom prst="rect">
            <a:avLst/>
          </a:prstGeom>
          <a:noFill/>
        </p:spPr>
        <p:txBody>
          <a:bodyPr wrap="square" anchor="t">
            <a:spAutoFit/>
          </a:bodyPr>
          <a:lstStyle/>
          <a:p>
            <a:pPr algn="ctr">
              <a:defRPr sz="2000" b="1">
                <a:solidFill>
                  <a:srgbClr val="F1F5F9"/>
                </a:solidFill>
                <a:latin typeface="Calibri"/>
              </a:defRPr>
            </a:pPr>
            <a:r>
              <a:t>Google Gemini</a:t>
            </a:r>
          </a:p>
        </p:txBody>
      </p:sp>
      <p:sp>
        <p:nvSpPr>
          <p:cNvPr id="21" name="TextBox 20"/>
          <p:cNvSpPr txBox="1"/>
          <p:nvPr/>
        </p:nvSpPr>
        <p:spPr>
          <a:xfrm>
            <a:off x="8686800" y="3017520"/>
            <a:ext cx="3017520" cy="365760"/>
          </a:xfrm>
          <a:prstGeom prst="rect">
            <a:avLst/>
          </a:prstGeom>
          <a:noFill/>
        </p:spPr>
        <p:txBody>
          <a:bodyPr wrap="square" anchor="t">
            <a:spAutoFit/>
          </a:bodyPr>
          <a:lstStyle/>
          <a:p>
            <a:pPr algn="ctr">
              <a:defRPr sz="1200" b="0">
                <a:solidFill>
                  <a:srgbClr val="64748B"/>
                </a:solidFill>
                <a:latin typeface="Calibri"/>
              </a:defRPr>
            </a:pPr>
            <a:r>
              <a:t>gemini-1.5-flash</a:t>
            </a:r>
          </a:p>
        </p:txBody>
      </p:sp>
      <p:sp>
        <p:nvSpPr>
          <p:cNvPr id="22" name="Rounded Rectangle 21"/>
          <p:cNvSpPr/>
          <p:nvPr/>
        </p:nvSpPr>
        <p:spPr>
          <a:xfrm>
            <a:off x="8595360" y="3749039"/>
            <a:ext cx="3200400" cy="1463040"/>
          </a:xfrm>
          <a:prstGeom prst="roundRect">
            <a:avLst>
              <a:gd name="adj" fmla="val 6000"/>
            </a:avLst>
          </a:prstGeom>
          <a:solidFill>
            <a:srgbClr val="0C1122"/>
          </a:solidFill>
          <a:ln w="12700">
            <a:solidFill>
              <a:srgbClr val="8B7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0" y="3886200"/>
            <a:ext cx="3017520" cy="320040"/>
          </a:xfrm>
          <a:prstGeom prst="rect">
            <a:avLst/>
          </a:prstGeom>
          <a:noFill/>
        </p:spPr>
        <p:txBody>
          <a:bodyPr wrap="square" anchor="t">
            <a:spAutoFit/>
          </a:bodyPr>
          <a:lstStyle/>
          <a:p>
            <a:pPr algn="ctr">
              <a:defRPr sz="1000" b="1">
                <a:solidFill>
                  <a:srgbClr val="8B7CFF"/>
                </a:solidFill>
                <a:latin typeface="Calibri"/>
              </a:defRPr>
            </a:pPr>
            <a:r>
              <a:t>DATABASE</a:t>
            </a:r>
          </a:p>
        </p:txBody>
      </p:sp>
      <p:sp>
        <p:nvSpPr>
          <p:cNvPr id="24" name="TextBox 23"/>
          <p:cNvSpPr txBox="1"/>
          <p:nvPr/>
        </p:nvSpPr>
        <p:spPr>
          <a:xfrm>
            <a:off x="8686800" y="4297680"/>
            <a:ext cx="3017520" cy="457200"/>
          </a:xfrm>
          <a:prstGeom prst="rect">
            <a:avLst/>
          </a:prstGeom>
          <a:noFill/>
        </p:spPr>
        <p:txBody>
          <a:bodyPr wrap="square" anchor="t">
            <a:spAutoFit/>
          </a:bodyPr>
          <a:lstStyle/>
          <a:p>
            <a:pPr algn="ctr">
              <a:defRPr sz="2000" b="1">
                <a:solidFill>
                  <a:srgbClr val="F1F5F9"/>
                </a:solidFill>
                <a:latin typeface="Calibri"/>
              </a:defRPr>
            </a:pPr>
            <a:r>
              <a:t>Supabase</a:t>
            </a:r>
          </a:p>
        </p:txBody>
      </p:sp>
      <p:sp>
        <p:nvSpPr>
          <p:cNvPr id="25" name="TextBox 24"/>
          <p:cNvSpPr txBox="1"/>
          <p:nvPr/>
        </p:nvSpPr>
        <p:spPr>
          <a:xfrm>
            <a:off x="8686800" y="4754880"/>
            <a:ext cx="3017520" cy="365760"/>
          </a:xfrm>
          <a:prstGeom prst="rect">
            <a:avLst/>
          </a:prstGeom>
          <a:noFill/>
        </p:spPr>
        <p:txBody>
          <a:bodyPr wrap="square" anchor="t">
            <a:spAutoFit/>
          </a:bodyPr>
          <a:lstStyle/>
          <a:p>
            <a:pPr algn="ctr">
              <a:defRPr sz="1100" b="0">
                <a:solidFill>
                  <a:srgbClr val="64748B"/>
                </a:solidFill>
                <a:latin typeface="Calibri"/>
              </a:defRPr>
            </a:pPr>
            <a:r>
              <a:t>PostgreSQL — Study History</a:t>
            </a:r>
          </a:p>
        </p:txBody>
      </p:sp>
      <p:sp>
        <p:nvSpPr>
          <p:cNvPr id="26" name="Rounded Rectangle 25"/>
          <p:cNvSpPr/>
          <p:nvPr/>
        </p:nvSpPr>
        <p:spPr>
          <a:xfrm>
            <a:off x="960120" y="5577840"/>
            <a:ext cx="10241280" cy="731520"/>
          </a:xfrm>
          <a:prstGeom prst="roundRect">
            <a:avLst>
              <a:gd name="adj" fmla="val 6000"/>
            </a:avLst>
          </a:prstGeom>
          <a:solidFill>
            <a:srgbClr val="0A1123"/>
          </a:solidFill>
          <a:ln w="12700">
            <a:solidFill>
              <a:srgbClr val="1B3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5623560"/>
            <a:ext cx="1828800" cy="320040"/>
          </a:xfrm>
          <a:prstGeom prst="rect">
            <a:avLst/>
          </a:prstGeom>
          <a:noFill/>
        </p:spPr>
        <p:txBody>
          <a:bodyPr wrap="square" anchor="t">
            <a:spAutoFit/>
          </a:bodyPr>
          <a:lstStyle/>
          <a:p>
            <a:pPr algn="l">
              <a:defRPr sz="900" b="1">
                <a:solidFill>
                  <a:srgbClr val="4ADE80"/>
                </a:solidFill>
                <a:latin typeface="Calibri"/>
              </a:defRPr>
            </a:pPr>
            <a:r>
              <a:t>🔒 SECURITY</a:t>
            </a:r>
          </a:p>
        </p:txBody>
      </p:sp>
      <p:sp>
        <p:nvSpPr>
          <p:cNvPr id="28" name="TextBox 27"/>
          <p:cNvSpPr txBox="1"/>
          <p:nvPr/>
        </p:nvSpPr>
        <p:spPr>
          <a:xfrm>
            <a:off x="1280160" y="5897880"/>
            <a:ext cx="9601200" cy="365760"/>
          </a:xfrm>
          <a:prstGeom prst="rect">
            <a:avLst/>
          </a:prstGeom>
          <a:noFill/>
        </p:spPr>
        <p:txBody>
          <a:bodyPr wrap="square" anchor="t">
            <a:spAutoFit/>
          </a:bodyPr>
          <a:lstStyle/>
          <a:p>
            <a:pPr algn="l">
              <a:defRPr sz="1200" b="0">
                <a:solidFill>
                  <a:srgbClr val="CBD5E1"/>
                </a:solidFill>
                <a:latin typeface="Calibri"/>
              </a:defRPr>
            </a:pPr>
            <a:r>
              <a:t>The Gemini API key lives only in the backend .env file — it is never exposed to the frontend or the user's browser.</a:t>
            </a:r>
          </a:p>
        </p:txBody>
      </p:sp>
      <p:sp>
        <p:nvSpPr>
          <p:cNvPr id="29" name="TextBox 28"/>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06 — PROJECT WORKFLOW</a:t>
            </a:r>
          </a:p>
        </p:txBody>
      </p:sp>
      <p:sp>
        <p:nvSpPr>
          <p:cNvPr id="4" name="Rounded Rectangle 3"/>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How a Request Flows</a:t>
            </a:r>
          </a:p>
        </p:txBody>
      </p:sp>
      <p:sp>
        <p:nvSpPr>
          <p:cNvPr id="6" name="Rounded Rectangle 5"/>
          <p:cNvSpPr/>
          <p:nvPr/>
        </p:nvSpPr>
        <p:spPr>
          <a:xfrm>
            <a:off x="548640" y="2103120"/>
            <a:ext cx="2103120" cy="30175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80160" y="2286000"/>
            <a:ext cx="640080" cy="64008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286000"/>
            <a:ext cx="640080" cy="640080"/>
          </a:xfrm>
          <a:prstGeom prst="rect">
            <a:avLst/>
          </a:prstGeom>
          <a:noFill/>
        </p:spPr>
        <p:txBody>
          <a:bodyPr wrap="square" anchor="ctr">
            <a:spAutoFit/>
          </a:bodyPr>
          <a:lstStyle/>
          <a:p>
            <a:pPr algn="ctr">
              <a:defRPr sz="2200" b="1">
                <a:solidFill>
                  <a:srgbClr val="090E1D"/>
                </a:solidFill>
                <a:latin typeface="Calibri"/>
              </a:defRPr>
            </a:pPr>
            <a:r>
              <a:t>1</a:t>
            </a:r>
          </a:p>
        </p:txBody>
      </p:sp>
      <p:sp>
        <p:nvSpPr>
          <p:cNvPr id="9" name="TextBox 8"/>
          <p:cNvSpPr txBox="1"/>
          <p:nvPr/>
        </p:nvSpPr>
        <p:spPr>
          <a:xfrm>
            <a:off x="685800" y="3063240"/>
            <a:ext cx="1828800" cy="640080"/>
          </a:xfrm>
          <a:prstGeom prst="rect">
            <a:avLst/>
          </a:prstGeom>
          <a:noFill/>
        </p:spPr>
        <p:txBody>
          <a:bodyPr wrap="square" anchor="t">
            <a:spAutoFit/>
          </a:bodyPr>
          <a:lstStyle/>
          <a:p>
            <a:pPr algn="ctr">
              <a:defRPr sz="1200" b="1">
                <a:solidFill>
                  <a:srgbClr val="F1F5F9"/>
                </a:solidFill>
                <a:latin typeface="Calibri"/>
              </a:defRPr>
            </a:pPr>
            <a:r>
              <a:t>Student Input</a:t>
            </a:r>
          </a:p>
        </p:txBody>
      </p:sp>
      <p:sp>
        <p:nvSpPr>
          <p:cNvPr id="10" name="TextBox 9"/>
          <p:cNvSpPr txBox="1"/>
          <p:nvPr/>
        </p:nvSpPr>
        <p:spPr>
          <a:xfrm>
            <a:off x="685800" y="3749040"/>
            <a:ext cx="1828800" cy="1188720"/>
          </a:xfrm>
          <a:prstGeom prst="rect">
            <a:avLst/>
          </a:prstGeom>
          <a:noFill/>
        </p:spPr>
        <p:txBody>
          <a:bodyPr wrap="square" anchor="t">
            <a:spAutoFit/>
          </a:bodyPr>
          <a:lstStyle/>
          <a:p>
            <a:pPr algn="ctr">
              <a:defRPr sz="1000" b="0">
                <a:solidFill>
                  <a:srgbClr val="64748B"/>
                </a:solidFill>
                <a:latin typeface="Calibri"/>
              </a:defRPr>
            </a:pPr>
            <a:r>
              <a:t>User enters a topic</a:t>
            </a:r>
            <a:br/>
            <a:r>
              <a:t>or question + selects</a:t>
            </a:r>
            <a:br/>
            <a:r>
              <a:t>learning level</a:t>
            </a:r>
          </a:p>
        </p:txBody>
      </p:sp>
      <p:sp>
        <p:nvSpPr>
          <p:cNvPr id="11" name="TextBox 10"/>
          <p:cNvSpPr txBox="1"/>
          <p:nvPr/>
        </p:nvSpPr>
        <p:spPr>
          <a:xfrm>
            <a:off x="2651760" y="3291840"/>
            <a:ext cx="320040" cy="457200"/>
          </a:xfrm>
          <a:prstGeom prst="rect">
            <a:avLst/>
          </a:prstGeom>
          <a:noFill/>
        </p:spPr>
        <p:txBody>
          <a:bodyPr wrap="square" anchor="t">
            <a:spAutoFit/>
          </a:bodyPr>
          <a:lstStyle/>
          <a:p>
            <a:pPr algn="ctr">
              <a:defRPr sz="2000" b="1">
                <a:solidFill>
                  <a:srgbClr val="8B7CFF"/>
                </a:solidFill>
                <a:latin typeface="Calibri"/>
              </a:defRPr>
            </a:pPr>
            <a:r>
              <a:t>→</a:t>
            </a:r>
          </a:p>
        </p:txBody>
      </p:sp>
      <p:sp>
        <p:nvSpPr>
          <p:cNvPr id="12" name="Rounded Rectangle 11"/>
          <p:cNvSpPr/>
          <p:nvPr/>
        </p:nvSpPr>
        <p:spPr>
          <a:xfrm>
            <a:off x="2926080" y="2103120"/>
            <a:ext cx="2103120" cy="30175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0" y="2286000"/>
            <a:ext cx="640080" cy="640080"/>
          </a:xfrm>
          <a:prstGeom prst="roundRect">
            <a:avLst>
              <a:gd name="adj" fmla="val 8000"/>
            </a:avLst>
          </a:prstGeom>
          <a:gradFill rotWithShape="1">
            <a:gsLst>
              <a:gs pos="0">
                <a:srgbClr val="23CBDC"/>
              </a:gs>
              <a:gs pos="100000">
                <a:srgbClr val="8B7CFF"/>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286000"/>
            <a:ext cx="640080" cy="640080"/>
          </a:xfrm>
          <a:prstGeom prst="rect">
            <a:avLst/>
          </a:prstGeom>
          <a:noFill/>
        </p:spPr>
        <p:txBody>
          <a:bodyPr wrap="square" anchor="ctr">
            <a:spAutoFit/>
          </a:bodyPr>
          <a:lstStyle/>
          <a:p>
            <a:pPr algn="ctr">
              <a:defRPr sz="2200" b="1">
                <a:solidFill>
                  <a:srgbClr val="090E1D"/>
                </a:solidFill>
                <a:latin typeface="Calibri"/>
              </a:defRPr>
            </a:pPr>
            <a:r>
              <a:t>2</a:t>
            </a:r>
          </a:p>
        </p:txBody>
      </p:sp>
      <p:sp>
        <p:nvSpPr>
          <p:cNvPr id="15" name="TextBox 14"/>
          <p:cNvSpPr txBox="1"/>
          <p:nvPr/>
        </p:nvSpPr>
        <p:spPr>
          <a:xfrm>
            <a:off x="3063240" y="3063240"/>
            <a:ext cx="1828800" cy="640080"/>
          </a:xfrm>
          <a:prstGeom prst="rect">
            <a:avLst/>
          </a:prstGeom>
          <a:noFill/>
        </p:spPr>
        <p:txBody>
          <a:bodyPr wrap="square" anchor="t">
            <a:spAutoFit/>
          </a:bodyPr>
          <a:lstStyle/>
          <a:p>
            <a:pPr algn="ctr">
              <a:defRPr sz="1200" b="1">
                <a:solidFill>
                  <a:srgbClr val="F1F5F9"/>
                </a:solidFill>
                <a:latin typeface="Calibri"/>
              </a:defRPr>
            </a:pPr>
            <a:r>
              <a:t>Frontend Sends</a:t>
            </a:r>
            <a:br/>
            <a:r>
              <a:t>Request</a:t>
            </a:r>
          </a:p>
        </p:txBody>
      </p:sp>
      <p:sp>
        <p:nvSpPr>
          <p:cNvPr id="16" name="TextBox 15"/>
          <p:cNvSpPr txBox="1"/>
          <p:nvPr/>
        </p:nvSpPr>
        <p:spPr>
          <a:xfrm>
            <a:off x="3063240" y="3749040"/>
            <a:ext cx="1828800" cy="1188720"/>
          </a:xfrm>
          <a:prstGeom prst="rect">
            <a:avLst/>
          </a:prstGeom>
          <a:noFill/>
        </p:spPr>
        <p:txBody>
          <a:bodyPr wrap="square" anchor="t">
            <a:spAutoFit/>
          </a:bodyPr>
          <a:lstStyle/>
          <a:p>
            <a:pPr algn="ctr">
              <a:defRPr sz="1000" b="0">
                <a:solidFill>
                  <a:srgbClr val="64748B"/>
                </a:solidFill>
                <a:latin typeface="Calibri"/>
              </a:defRPr>
            </a:pPr>
            <a:r>
              <a:t>React app sends POST</a:t>
            </a:r>
            <a:br/>
            <a:r>
              <a:t>request to FastAPI</a:t>
            </a:r>
            <a:br/>
            <a:r>
              <a:t>backend via API client</a:t>
            </a:r>
          </a:p>
        </p:txBody>
      </p:sp>
      <p:sp>
        <p:nvSpPr>
          <p:cNvPr id="17" name="TextBox 16"/>
          <p:cNvSpPr txBox="1"/>
          <p:nvPr/>
        </p:nvSpPr>
        <p:spPr>
          <a:xfrm>
            <a:off x="5029200" y="3291840"/>
            <a:ext cx="320040" cy="457200"/>
          </a:xfrm>
          <a:prstGeom prst="rect">
            <a:avLst/>
          </a:prstGeom>
          <a:noFill/>
        </p:spPr>
        <p:txBody>
          <a:bodyPr wrap="square" anchor="t">
            <a:spAutoFit/>
          </a:bodyPr>
          <a:lstStyle/>
          <a:p>
            <a:pPr algn="ctr">
              <a:defRPr sz="2000" b="1">
                <a:solidFill>
                  <a:srgbClr val="23CBDC"/>
                </a:solidFill>
                <a:latin typeface="Calibri"/>
              </a:defRPr>
            </a:pPr>
            <a:r>
              <a:t>→</a:t>
            </a:r>
          </a:p>
        </p:txBody>
      </p:sp>
      <p:sp>
        <p:nvSpPr>
          <p:cNvPr id="18" name="Rounded Rectangle 17"/>
          <p:cNvSpPr/>
          <p:nvPr/>
        </p:nvSpPr>
        <p:spPr>
          <a:xfrm>
            <a:off x="5303520" y="2103120"/>
            <a:ext cx="2103120" cy="30175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2286000"/>
            <a:ext cx="640080" cy="640080"/>
          </a:xfrm>
          <a:prstGeom prst="roundRect">
            <a:avLst>
              <a:gd name="adj" fmla="val 8000"/>
            </a:avLst>
          </a:prstGeom>
          <a:gradFill rotWithShape="1">
            <a:gsLst>
              <a:gs pos="0">
                <a:srgbClr val="3B82F6"/>
              </a:gs>
              <a:gs pos="100000">
                <a:srgbClr val="8B7CFF"/>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2286000"/>
            <a:ext cx="640080" cy="640080"/>
          </a:xfrm>
          <a:prstGeom prst="rect">
            <a:avLst/>
          </a:prstGeom>
          <a:noFill/>
        </p:spPr>
        <p:txBody>
          <a:bodyPr wrap="square" anchor="ctr">
            <a:spAutoFit/>
          </a:bodyPr>
          <a:lstStyle/>
          <a:p>
            <a:pPr algn="ctr">
              <a:defRPr sz="2200" b="1">
                <a:solidFill>
                  <a:srgbClr val="090E1D"/>
                </a:solidFill>
                <a:latin typeface="Calibri"/>
              </a:defRPr>
            </a:pPr>
            <a:r>
              <a:t>3</a:t>
            </a:r>
          </a:p>
        </p:txBody>
      </p:sp>
      <p:sp>
        <p:nvSpPr>
          <p:cNvPr id="21" name="TextBox 20"/>
          <p:cNvSpPr txBox="1"/>
          <p:nvPr/>
        </p:nvSpPr>
        <p:spPr>
          <a:xfrm>
            <a:off x="5440680" y="3063240"/>
            <a:ext cx="1828800" cy="640080"/>
          </a:xfrm>
          <a:prstGeom prst="rect">
            <a:avLst/>
          </a:prstGeom>
          <a:noFill/>
        </p:spPr>
        <p:txBody>
          <a:bodyPr wrap="square" anchor="t">
            <a:spAutoFit/>
          </a:bodyPr>
          <a:lstStyle/>
          <a:p>
            <a:pPr algn="ctr">
              <a:defRPr sz="1200" b="1">
                <a:solidFill>
                  <a:srgbClr val="F1F5F9"/>
                </a:solidFill>
                <a:latin typeface="Calibri"/>
              </a:defRPr>
            </a:pPr>
            <a:r>
              <a:t>Backend Builds</a:t>
            </a:r>
            <a:br/>
            <a:r>
              <a:t>Prompt</a:t>
            </a:r>
          </a:p>
        </p:txBody>
      </p:sp>
      <p:sp>
        <p:nvSpPr>
          <p:cNvPr id="22" name="TextBox 21"/>
          <p:cNvSpPr txBox="1"/>
          <p:nvPr/>
        </p:nvSpPr>
        <p:spPr>
          <a:xfrm>
            <a:off x="5440680" y="3749040"/>
            <a:ext cx="1828800" cy="1188720"/>
          </a:xfrm>
          <a:prstGeom prst="rect">
            <a:avLst/>
          </a:prstGeom>
          <a:noFill/>
        </p:spPr>
        <p:txBody>
          <a:bodyPr wrap="square" anchor="t">
            <a:spAutoFit/>
          </a:bodyPr>
          <a:lstStyle/>
          <a:p>
            <a:pPr algn="ctr">
              <a:defRPr sz="1000" b="0">
                <a:solidFill>
                  <a:srgbClr val="64748B"/>
                </a:solidFill>
                <a:latin typeface="Calibri"/>
              </a:defRPr>
            </a:pPr>
            <a:r>
              <a:t>FastAPI constructs a</a:t>
            </a:r>
            <a:br/>
            <a:r>
              <a:t>Gemini prompt with level</a:t>
            </a:r>
            <a:br/>
            <a:r>
              <a:t>context and instructions</a:t>
            </a:r>
          </a:p>
        </p:txBody>
      </p:sp>
      <p:sp>
        <p:nvSpPr>
          <p:cNvPr id="23" name="TextBox 22"/>
          <p:cNvSpPr txBox="1"/>
          <p:nvPr/>
        </p:nvSpPr>
        <p:spPr>
          <a:xfrm>
            <a:off x="7406640" y="3291840"/>
            <a:ext cx="320040" cy="457200"/>
          </a:xfrm>
          <a:prstGeom prst="rect">
            <a:avLst/>
          </a:prstGeom>
          <a:noFill/>
        </p:spPr>
        <p:txBody>
          <a:bodyPr wrap="square" anchor="t">
            <a:spAutoFit/>
          </a:bodyPr>
          <a:lstStyle/>
          <a:p>
            <a:pPr algn="ctr">
              <a:defRPr sz="2000" b="1">
                <a:solidFill>
                  <a:srgbClr val="3B82F6"/>
                </a:solidFill>
                <a:latin typeface="Calibri"/>
              </a:defRPr>
            </a:pPr>
            <a:r>
              <a:t>→</a:t>
            </a:r>
          </a:p>
        </p:txBody>
      </p:sp>
      <p:sp>
        <p:nvSpPr>
          <p:cNvPr id="24" name="Rounded Rectangle 23"/>
          <p:cNvSpPr/>
          <p:nvPr/>
        </p:nvSpPr>
        <p:spPr>
          <a:xfrm>
            <a:off x="7680960" y="2103120"/>
            <a:ext cx="2103120" cy="30175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12480" y="2286000"/>
            <a:ext cx="640080" cy="64008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2286000"/>
            <a:ext cx="640080" cy="640080"/>
          </a:xfrm>
          <a:prstGeom prst="rect">
            <a:avLst/>
          </a:prstGeom>
          <a:noFill/>
        </p:spPr>
        <p:txBody>
          <a:bodyPr wrap="square" anchor="ctr">
            <a:spAutoFit/>
          </a:bodyPr>
          <a:lstStyle/>
          <a:p>
            <a:pPr algn="ctr">
              <a:defRPr sz="2200" b="1">
                <a:solidFill>
                  <a:srgbClr val="090E1D"/>
                </a:solidFill>
                <a:latin typeface="Calibri"/>
              </a:defRPr>
            </a:pPr>
            <a:r>
              <a:t>4</a:t>
            </a:r>
          </a:p>
        </p:txBody>
      </p:sp>
      <p:sp>
        <p:nvSpPr>
          <p:cNvPr id="27" name="TextBox 26"/>
          <p:cNvSpPr txBox="1"/>
          <p:nvPr/>
        </p:nvSpPr>
        <p:spPr>
          <a:xfrm>
            <a:off x="7818120" y="3063240"/>
            <a:ext cx="1828800" cy="640080"/>
          </a:xfrm>
          <a:prstGeom prst="rect">
            <a:avLst/>
          </a:prstGeom>
          <a:noFill/>
        </p:spPr>
        <p:txBody>
          <a:bodyPr wrap="square" anchor="t">
            <a:spAutoFit/>
          </a:bodyPr>
          <a:lstStyle/>
          <a:p>
            <a:pPr algn="ctr">
              <a:defRPr sz="1200" b="1">
                <a:solidFill>
                  <a:srgbClr val="F1F5F9"/>
                </a:solidFill>
                <a:latin typeface="Calibri"/>
              </a:defRPr>
            </a:pPr>
            <a:r>
              <a:t>Gemini AI</a:t>
            </a:r>
            <a:br/>
            <a:r>
              <a:t>Generates</a:t>
            </a:r>
          </a:p>
        </p:txBody>
      </p:sp>
      <p:sp>
        <p:nvSpPr>
          <p:cNvPr id="28" name="TextBox 27"/>
          <p:cNvSpPr txBox="1"/>
          <p:nvPr/>
        </p:nvSpPr>
        <p:spPr>
          <a:xfrm>
            <a:off x="7818120" y="3749040"/>
            <a:ext cx="1828800" cy="1188720"/>
          </a:xfrm>
          <a:prstGeom prst="rect">
            <a:avLst/>
          </a:prstGeom>
          <a:noFill/>
        </p:spPr>
        <p:txBody>
          <a:bodyPr wrap="square" anchor="t">
            <a:spAutoFit/>
          </a:bodyPr>
          <a:lstStyle/>
          <a:p>
            <a:pPr algn="ctr">
              <a:defRPr sz="1000" b="0">
                <a:solidFill>
                  <a:srgbClr val="64748B"/>
                </a:solidFill>
                <a:latin typeface="Calibri"/>
              </a:defRPr>
            </a:pPr>
            <a:r>
              <a:t>Google Gemini processes</a:t>
            </a:r>
            <a:br/>
            <a:r>
              <a:t>the prompt and returns</a:t>
            </a:r>
            <a:br/>
            <a:r>
              <a:t>an AI-powered response</a:t>
            </a:r>
          </a:p>
        </p:txBody>
      </p:sp>
      <p:sp>
        <p:nvSpPr>
          <p:cNvPr id="29" name="TextBox 28"/>
          <p:cNvSpPr txBox="1"/>
          <p:nvPr/>
        </p:nvSpPr>
        <p:spPr>
          <a:xfrm>
            <a:off x="9784080" y="3291840"/>
            <a:ext cx="320040" cy="457200"/>
          </a:xfrm>
          <a:prstGeom prst="rect">
            <a:avLst/>
          </a:prstGeom>
          <a:noFill/>
        </p:spPr>
        <p:txBody>
          <a:bodyPr wrap="square" anchor="t">
            <a:spAutoFit/>
          </a:bodyPr>
          <a:lstStyle/>
          <a:p>
            <a:pPr algn="ctr">
              <a:defRPr sz="2000" b="1">
                <a:solidFill>
                  <a:srgbClr val="8B7CFF"/>
                </a:solidFill>
                <a:latin typeface="Calibri"/>
              </a:defRPr>
            </a:pPr>
            <a:r>
              <a:t>→</a:t>
            </a:r>
          </a:p>
        </p:txBody>
      </p:sp>
      <p:sp>
        <p:nvSpPr>
          <p:cNvPr id="30" name="Rounded Rectangle 29"/>
          <p:cNvSpPr/>
          <p:nvPr/>
        </p:nvSpPr>
        <p:spPr>
          <a:xfrm>
            <a:off x="10058400" y="2103120"/>
            <a:ext cx="2103120" cy="30175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789920" y="2286000"/>
            <a:ext cx="640080" cy="640080"/>
          </a:xfrm>
          <a:prstGeom prst="roundRect">
            <a:avLst>
              <a:gd name="adj" fmla="val 8000"/>
            </a:avLst>
          </a:prstGeom>
          <a:gradFill rotWithShape="1">
            <a:gsLst>
              <a:gs pos="0">
                <a:srgbClr val="23CBDC"/>
              </a:gs>
              <a:gs pos="100000">
                <a:srgbClr val="8B7CFF"/>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9920" y="2286000"/>
            <a:ext cx="640080" cy="640080"/>
          </a:xfrm>
          <a:prstGeom prst="rect">
            <a:avLst/>
          </a:prstGeom>
          <a:noFill/>
        </p:spPr>
        <p:txBody>
          <a:bodyPr wrap="square" anchor="ctr">
            <a:spAutoFit/>
          </a:bodyPr>
          <a:lstStyle/>
          <a:p>
            <a:pPr algn="ctr">
              <a:defRPr sz="2200" b="1">
                <a:solidFill>
                  <a:srgbClr val="090E1D"/>
                </a:solidFill>
                <a:latin typeface="Calibri"/>
              </a:defRPr>
            </a:pPr>
            <a:r>
              <a:t>5</a:t>
            </a:r>
          </a:p>
        </p:txBody>
      </p:sp>
      <p:sp>
        <p:nvSpPr>
          <p:cNvPr id="33" name="TextBox 32"/>
          <p:cNvSpPr txBox="1"/>
          <p:nvPr/>
        </p:nvSpPr>
        <p:spPr>
          <a:xfrm>
            <a:off x="10195560" y="3063240"/>
            <a:ext cx="1828800" cy="640080"/>
          </a:xfrm>
          <a:prstGeom prst="rect">
            <a:avLst/>
          </a:prstGeom>
          <a:noFill/>
        </p:spPr>
        <p:txBody>
          <a:bodyPr wrap="square" anchor="t">
            <a:spAutoFit/>
          </a:bodyPr>
          <a:lstStyle/>
          <a:p>
            <a:pPr algn="ctr">
              <a:defRPr sz="1200" b="1">
                <a:solidFill>
                  <a:srgbClr val="F1F5F9"/>
                </a:solidFill>
                <a:latin typeface="Calibri"/>
              </a:defRPr>
            </a:pPr>
            <a:r>
              <a:t>Result Displayed</a:t>
            </a:r>
          </a:p>
        </p:txBody>
      </p:sp>
      <p:sp>
        <p:nvSpPr>
          <p:cNvPr id="34" name="TextBox 33"/>
          <p:cNvSpPr txBox="1"/>
          <p:nvPr/>
        </p:nvSpPr>
        <p:spPr>
          <a:xfrm>
            <a:off x="10195560" y="3749040"/>
            <a:ext cx="1828800" cy="1188720"/>
          </a:xfrm>
          <a:prstGeom prst="rect">
            <a:avLst/>
          </a:prstGeom>
          <a:noFill/>
        </p:spPr>
        <p:txBody>
          <a:bodyPr wrap="square" anchor="t">
            <a:spAutoFit/>
          </a:bodyPr>
          <a:lstStyle/>
          <a:p>
            <a:pPr algn="ctr">
              <a:defRPr sz="1000" b="0">
                <a:solidFill>
                  <a:srgbClr val="64748B"/>
                </a:solidFill>
                <a:latin typeface="Calibri"/>
              </a:defRPr>
            </a:pPr>
            <a:r>
              <a:t>Response is shown in the</a:t>
            </a:r>
            <a:br/>
            <a:r>
              <a:t>UI and saved to Supabase</a:t>
            </a:r>
            <a:br/>
            <a:r>
              <a:t>for study history</a:t>
            </a:r>
          </a:p>
        </p:txBody>
      </p:sp>
      <p:sp>
        <p:nvSpPr>
          <p:cNvPr id="35" name="Rounded Rectangle 34"/>
          <p:cNvSpPr/>
          <p:nvPr/>
        </p:nvSpPr>
        <p:spPr>
          <a:xfrm>
            <a:off x="960120" y="5486400"/>
            <a:ext cx="10241280" cy="777240"/>
          </a:xfrm>
          <a:prstGeom prst="roundRect">
            <a:avLst>
              <a:gd name="adj" fmla="val 6000"/>
            </a:avLst>
          </a:prstGeom>
          <a:solidFill>
            <a:srgbClr val="0A1123"/>
          </a:solidFill>
          <a:ln w="12700">
            <a:solidFill>
              <a:srgbClr val="4A3A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80160" y="5532120"/>
            <a:ext cx="2743200" cy="320040"/>
          </a:xfrm>
          <a:prstGeom prst="rect">
            <a:avLst/>
          </a:prstGeom>
          <a:noFill/>
        </p:spPr>
        <p:txBody>
          <a:bodyPr wrap="square" anchor="t">
            <a:spAutoFit/>
          </a:bodyPr>
          <a:lstStyle/>
          <a:p>
            <a:pPr algn="l">
              <a:defRPr sz="900" b="1">
                <a:solidFill>
                  <a:srgbClr val="FBBF24"/>
                </a:solidFill>
                <a:latin typeface="Calibri"/>
              </a:defRPr>
            </a:pPr>
            <a:r>
              <a:t>⚠️ OFFLINE FALLBACK</a:t>
            </a:r>
          </a:p>
        </p:txBody>
      </p:sp>
      <p:sp>
        <p:nvSpPr>
          <p:cNvPr id="37" name="TextBox 36"/>
          <p:cNvSpPr txBox="1"/>
          <p:nvPr/>
        </p:nvSpPr>
        <p:spPr>
          <a:xfrm>
            <a:off x="1280160" y="5806440"/>
            <a:ext cx="9601200" cy="365760"/>
          </a:xfrm>
          <a:prstGeom prst="rect">
            <a:avLst/>
          </a:prstGeom>
          <a:noFill/>
        </p:spPr>
        <p:txBody>
          <a:bodyPr wrap="square" anchor="t">
            <a:spAutoFit/>
          </a:bodyPr>
          <a:lstStyle/>
          <a:p>
            <a:pPr algn="l">
              <a:defRPr sz="1200" b="0">
                <a:solidFill>
                  <a:srgbClr val="CBD5E1"/>
                </a:solidFill>
                <a:latin typeface="Calibri"/>
              </a:defRPr>
            </a:pPr>
            <a:r>
              <a:t>If the backend is not running, step 2-4 are replaced by the built-in offline knowledge engine — the app always works.</a:t>
            </a:r>
          </a:p>
        </p:txBody>
      </p:sp>
      <p:sp>
        <p:nvSpPr>
          <p:cNvPr id="38" name="TextBox 37"/>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07 — MAIN FEATURES</a:t>
            </a:r>
          </a:p>
        </p:txBody>
      </p:sp>
      <p:sp>
        <p:nvSpPr>
          <p:cNvPr id="4" name="Rounded Rectangle 3"/>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Five Learning Tools in One</a:t>
            </a:r>
          </a:p>
        </p:txBody>
      </p:sp>
      <p:sp>
        <p:nvSpPr>
          <p:cNvPr id="6" name="Rounded Rectangle 5"/>
          <p:cNvSpPr/>
          <p:nvPr/>
        </p:nvSpPr>
        <p:spPr>
          <a:xfrm>
            <a:off x="548640" y="2011680"/>
            <a:ext cx="2148840" cy="34747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286000"/>
            <a:ext cx="960120" cy="960120"/>
          </a:xfrm>
          <a:prstGeom prst="roundRect">
            <a:avLst>
              <a:gd name="adj" fmla="val 6000"/>
            </a:avLst>
          </a:prstGeom>
          <a:solidFill>
            <a:srgbClr val="0D1429"/>
          </a:solidFill>
          <a:ln w="12700">
            <a:solidFill>
              <a:srgbClr val="8B7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286000"/>
            <a:ext cx="960120" cy="960120"/>
          </a:xfrm>
          <a:prstGeom prst="rect">
            <a:avLst/>
          </a:prstGeom>
          <a:noFill/>
        </p:spPr>
        <p:txBody>
          <a:bodyPr wrap="square" anchor="ctr">
            <a:spAutoFit/>
          </a:bodyPr>
          <a:lstStyle/>
          <a:p>
            <a:pPr algn="ctr">
              <a:defRPr sz="3200" b="0">
                <a:solidFill>
                  <a:srgbClr val="CBD5E1"/>
                </a:solidFill>
                <a:latin typeface="Calibri"/>
              </a:defRPr>
            </a:pPr>
            <a:r>
              <a:t>💬</a:t>
            </a:r>
          </a:p>
        </p:txBody>
      </p:sp>
      <p:sp>
        <p:nvSpPr>
          <p:cNvPr id="9" name="TextBox 8"/>
          <p:cNvSpPr txBox="1"/>
          <p:nvPr/>
        </p:nvSpPr>
        <p:spPr>
          <a:xfrm>
            <a:off x="640080" y="3429000"/>
            <a:ext cx="1965960" cy="365760"/>
          </a:xfrm>
          <a:prstGeom prst="rect">
            <a:avLst/>
          </a:prstGeom>
          <a:noFill/>
        </p:spPr>
        <p:txBody>
          <a:bodyPr wrap="square" anchor="t">
            <a:spAutoFit/>
          </a:bodyPr>
          <a:lstStyle/>
          <a:p>
            <a:pPr algn="ctr">
              <a:defRPr sz="1600" b="1">
                <a:solidFill>
                  <a:srgbClr val="F1F5F9"/>
                </a:solidFill>
                <a:latin typeface="Calibri"/>
              </a:defRPr>
            </a:pPr>
            <a:r>
              <a:t>AI Q&amp;A</a:t>
            </a:r>
          </a:p>
        </p:txBody>
      </p:sp>
      <p:sp>
        <p:nvSpPr>
          <p:cNvPr id="10" name="Rectangle 9"/>
          <p:cNvSpPr/>
          <p:nvPr/>
        </p:nvSpPr>
        <p:spPr>
          <a:xfrm>
            <a:off x="1325880" y="3794760"/>
            <a:ext cx="594360" cy="27432"/>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40"/>
            <a:ext cx="1874519" cy="1371600"/>
          </a:xfrm>
          <a:prstGeom prst="rect">
            <a:avLst/>
          </a:prstGeom>
          <a:noFill/>
        </p:spPr>
        <p:txBody>
          <a:bodyPr wrap="square" anchor="t">
            <a:spAutoFit/>
          </a:bodyPr>
          <a:lstStyle/>
          <a:p>
            <a:pPr algn="ctr">
              <a:defRPr sz="1100" b="0">
                <a:solidFill>
                  <a:srgbClr val="64748B"/>
                </a:solidFill>
                <a:latin typeface="Calibri"/>
              </a:defRPr>
            </a:pPr>
            <a:r>
              <a:t>Ask any question</a:t>
            </a:r>
            <a:br/>
            <a:r>
              <a:t>Get instant AI answers</a:t>
            </a:r>
            <a:br/>
            <a:r>
              <a:t>with examples</a:t>
            </a:r>
          </a:p>
        </p:txBody>
      </p:sp>
      <p:sp>
        <p:nvSpPr>
          <p:cNvPr id="12" name="Rounded Rectangle 11"/>
          <p:cNvSpPr/>
          <p:nvPr/>
        </p:nvSpPr>
        <p:spPr>
          <a:xfrm>
            <a:off x="2880360" y="2011680"/>
            <a:ext cx="2148840" cy="34747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74720" y="2286000"/>
            <a:ext cx="960120" cy="960120"/>
          </a:xfrm>
          <a:prstGeom prst="roundRect">
            <a:avLst>
              <a:gd name="adj" fmla="val 6000"/>
            </a:avLst>
          </a:prstGeom>
          <a:solidFill>
            <a:srgbClr val="0D1429"/>
          </a:solidFill>
          <a:ln w="12700">
            <a:solidFill>
              <a:srgbClr val="23CB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286000"/>
            <a:ext cx="960120" cy="960120"/>
          </a:xfrm>
          <a:prstGeom prst="rect">
            <a:avLst/>
          </a:prstGeom>
          <a:noFill/>
        </p:spPr>
        <p:txBody>
          <a:bodyPr wrap="square" anchor="ctr">
            <a:spAutoFit/>
          </a:bodyPr>
          <a:lstStyle/>
          <a:p>
            <a:pPr algn="ctr">
              <a:defRPr sz="3200" b="0">
                <a:solidFill>
                  <a:srgbClr val="CBD5E1"/>
                </a:solidFill>
                <a:latin typeface="Calibri"/>
              </a:defRPr>
            </a:pPr>
            <a:r>
              <a:t>📖</a:t>
            </a:r>
          </a:p>
        </p:txBody>
      </p:sp>
      <p:sp>
        <p:nvSpPr>
          <p:cNvPr id="15" name="TextBox 14"/>
          <p:cNvSpPr txBox="1"/>
          <p:nvPr/>
        </p:nvSpPr>
        <p:spPr>
          <a:xfrm>
            <a:off x="2971800" y="3429000"/>
            <a:ext cx="1965960" cy="365760"/>
          </a:xfrm>
          <a:prstGeom prst="rect">
            <a:avLst/>
          </a:prstGeom>
          <a:noFill/>
        </p:spPr>
        <p:txBody>
          <a:bodyPr wrap="square" anchor="t">
            <a:spAutoFit/>
          </a:bodyPr>
          <a:lstStyle/>
          <a:p>
            <a:pPr algn="ctr">
              <a:defRPr sz="1600" b="1">
                <a:solidFill>
                  <a:srgbClr val="F1F5F9"/>
                </a:solidFill>
                <a:latin typeface="Calibri"/>
              </a:defRPr>
            </a:pPr>
            <a:r>
              <a:t>Explain</a:t>
            </a:r>
          </a:p>
        </p:txBody>
      </p:sp>
      <p:sp>
        <p:nvSpPr>
          <p:cNvPr id="16" name="Rectangle 15"/>
          <p:cNvSpPr/>
          <p:nvPr/>
        </p:nvSpPr>
        <p:spPr>
          <a:xfrm>
            <a:off x="3657600" y="3794760"/>
            <a:ext cx="594360" cy="27432"/>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7520" y="3977640"/>
            <a:ext cx="1874519" cy="1371600"/>
          </a:xfrm>
          <a:prstGeom prst="rect">
            <a:avLst/>
          </a:prstGeom>
          <a:noFill/>
        </p:spPr>
        <p:txBody>
          <a:bodyPr wrap="square" anchor="t">
            <a:spAutoFit/>
          </a:bodyPr>
          <a:lstStyle/>
          <a:p>
            <a:pPr algn="ctr">
              <a:defRPr sz="1100" b="0">
                <a:solidFill>
                  <a:srgbClr val="64748B"/>
                </a:solidFill>
                <a:latin typeface="Calibri"/>
              </a:defRPr>
            </a:pPr>
            <a:r>
              <a:t>Structured breakdown</a:t>
            </a:r>
            <a:br/>
            <a:r>
              <a:t>with key points,</a:t>
            </a:r>
            <a:br/>
            <a:r>
              <a:t>analogies, deep dive</a:t>
            </a:r>
          </a:p>
        </p:txBody>
      </p:sp>
      <p:sp>
        <p:nvSpPr>
          <p:cNvPr id="18" name="Rounded Rectangle 17"/>
          <p:cNvSpPr/>
          <p:nvPr/>
        </p:nvSpPr>
        <p:spPr>
          <a:xfrm>
            <a:off x="5212079" y="2011680"/>
            <a:ext cx="2148840" cy="34747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806439" y="2286000"/>
            <a:ext cx="960120" cy="960120"/>
          </a:xfrm>
          <a:prstGeom prst="roundRect">
            <a:avLst>
              <a:gd name="adj" fmla="val 6000"/>
            </a:avLst>
          </a:prstGeom>
          <a:solidFill>
            <a:srgbClr val="0D1429"/>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06439" y="2286000"/>
            <a:ext cx="960120" cy="960120"/>
          </a:xfrm>
          <a:prstGeom prst="rect">
            <a:avLst/>
          </a:prstGeom>
          <a:noFill/>
        </p:spPr>
        <p:txBody>
          <a:bodyPr wrap="square" anchor="ctr">
            <a:spAutoFit/>
          </a:bodyPr>
          <a:lstStyle/>
          <a:p>
            <a:pPr algn="ctr">
              <a:defRPr sz="3200" b="0">
                <a:solidFill>
                  <a:srgbClr val="CBD5E1"/>
                </a:solidFill>
                <a:latin typeface="Calibri"/>
              </a:defRPr>
            </a:pPr>
            <a:r>
              <a:t>🧠</a:t>
            </a:r>
          </a:p>
        </p:txBody>
      </p:sp>
      <p:sp>
        <p:nvSpPr>
          <p:cNvPr id="21" name="TextBox 20"/>
          <p:cNvSpPr txBox="1"/>
          <p:nvPr/>
        </p:nvSpPr>
        <p:spPr>
          <a:xfrm>
            <a:off x="5303519" y="3429000"/>
            <a:ext cx="1965960" cy="365760"/>
          </a:xfrm>
          <a:prstGeom prst="rect">
            <a:avLst/>
          </a:prstGeom>
          <a:noFill/>
        </p:spPr>
        <p:txBody>
          <a:bodyPr wrap="square" anchor="t">
            <a:spAutoFit/>
          </a:bodyPr>
          <a:lstStyle/>
          <a:p>
            <a:pPr algn="ctr">
              <a:defRPr sz="1600" b="1">
                <a:solidFill>
                  <a:srgbClr val="F1F5F9"/>
                </a:solidFill>
                <a:latin typeface="Calibri"/>
              </a:defRPr>
            </a:pPr>
            <a:r>
              <a:t>Quiz</a:t>
            </a:r>
          </a:p>
        </p:txBody>
      </p:sp>
      <p:sp>
        <p:nvSpPr>
          <p:cNvPr id="22" name="Rectangle 21"/>
          <p:cNvSpPr/>
          <p:nvPr/>
        </p:nvSpPr>
        <p:spPr>
          <a:xfrm>
            <a:off x="5989319" y="3794760"/>
            <a:ext cx="594360" cy="2743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39" y="3977640"/>
            <a:ext cx="1874519" cy="1371600"/>
          </a:xfrm>
          <a:prstGeom prst="rect">
            <a:avLst/>
          </a:prstGeom>
          <a:noFill/>
        </p:spPr>
        <p:txBody>
          <a:bodyPr wrap="square" anchor="t">
            <a:spAutoFit/>
          </a:bodyPr>
          <a:lstStyle/>
          <a:p>
            <a:pPr algn="ctr">
              <a:defRPr sz="1100" b="0">
                <a:solidFill>
                  <a:srgbClr val="64748B"/>
                </a:solidFill>
                <a:latin typeface="Calibri"/>
              </a:defRPr>
            </a:pPr>
            <a:r>
              <a:t>Auto-generated quizzes</a:t>
            </a:r>
            <a:br/>
            <a:r>
              <a:t>with 4 options,</a:t>
            </a:r>
            <a:br/>
            <a:r>
              <a:t>answer checking</a:t>
            </a:r>
          </a:p>
        </p:txBody>
      </p:sp>
      <p:sp>
        <p:nvSpPr>
          <p:cNvPr id="24" name="Rounded Rectangle 23"/>
          <p:cNvSpPr/>
          <p:nvPr/>
        </p:nvSpPr>
        <p:spPr>
          <a:xfrm>
            <a:off x="7543800" y="2011680"/>
            <a:ext cx="2148840" cy="34747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38160" y="2286000"/>
            <a:ext cx="960120" cy="960120"/>
          </a:xfrm>
          <a:prstGeom prst="roundRect">
            <a:avLst>
              <a:gd name="adj" fmla="val 6000"/>
            </a:avLst>
          </a:prstGeom>
          <a:solidFill>
            <a:srgbClr val="0D1429"/>
          </a:solidFill>
          <a:ln w="127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0" y="2286000"/>
            <a:ext cx="960120" cy="960120"/>
          </a:xfrm>
          <a:prstGeom prst="rect">
            <a:avLst/>
          </a:prstGeom>
          <a:noFill/>
        </p:spPr>
        <p:txBody>
          <a:bodyPr wrap="square" anchor="ctr">
            <a:spAutoFit/>
          </a:bodyPr>
          <a:lstStyle/>
          <a:p>
            <a:pPr algn="ctr">
              <a:defRPr sz="3200" b="0">
                <a:solidFill>
                  <a:srgbClr val="CBD5E1"/>
                </a:solidFill>
                <a:latin typeface="Calibri"/>
              </a:defRPr>
            </a:pPr>
            <a:r>
              <a:t>📝</a:t>
            </a:r>
          </a:p>
        </p:txBody>
      </p:sp>
      <p:sp>
        <p:nvSpPr>
          <p:cNvPr id="27" name="TextBox 26"/>
          <p:cNvSpPr txBox="1"/>
          <p:nvPr/>
        </p:nvSpPr>
        <p:spPr>
          <a:xfrm>
            <a:off x="7635240" y="3429000"/>
            <a:ext cx="1965960" cy="365760"/>
          </a:xfrm>
          <a:prstGeom prst="rect">
            <a:avLst/>
          </a:prstGeom>
          <a:noFill/>
        </p:spPr>
        <p:txBody>
          <a:bodyPr wrap="square" anchor="t">
            <a:spAutoFit/>
          </a:bodyPr>
          <a:lstStyle/>
          <a:p>
            <a:pPr algn="ctr">
              <a:defRPr sz="1600" b="1">
                <a:solidFill>
                  <a:srgbClr val="F1F5F9"/>
                </a:solidFill>
                <a:latin typeface="Calibri"/>
              </a:defRPr>
            </a:pPr>
            <a:r>
              <a:t>Summarize</a:t>
            </a:r>
          </a:p>
        </p:txBody>
      </p:sp>
      <p:sp>
        <p:nvSpPr>
          <p:cNvPr id="28" name="Rectangle 27"/>
          <p:cNvSpPr/>
          <p:nvPr/>
        </p:nvSpPr>
        <p:spPr>
          <a:xfrm>
            <a:off x="8321040" y="3794760"/>
            <a:ext cx="594360" cy="2743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0" y="3977640"/>
            <a:ext cx="1874519" cy="1371600"/>
          </a:xfrm>
          <a:prstGeom prst="rect">
            <a:avLst/>
          </a:prstGeom>
          <a:noFill/>
        </p:spPr>
        <p:txBody>
          <a:bodyPr wrap="square" anchor="t">
            <a:spAutoFit/>
          </a:bodyPr>
          <a:lstStyle/>
          <a:p>
            <a:pPr algn="ctr">
              <a:defRPr sz="1100" b="0">
                <a:solidFill>
                  <a:srgbClr val="64748B"/>
                </a:solidFill>
                <a:latin typeface="Calibri"/>
              </a:defRPr>
            </a:pPr>
            <a:r>
              <a:t>Paste long notes</a:t>
            </a:r>
            <a:br/>
            <a:r>
              <a:t>Get key points &amp;</a:t>
            </a:r>
            <a:br/>
            <a:r>
              <a:t>takeaways instantly</a:t>
            </a:r>
          </a:p>
        </p:txBody>
      </p:sp>
      <p:sp>
        <p:nvSpPr>
          <p:cNvPr id="30" name="Rounded Rectangle 29"/>
          <p:cNvSpPr/>
          <p:nvPr/>
        </p:nvSpPr>
        <p:spPr>
          <a:xfrm>
            <a:off x="9875519" y="2011680"/>
            <a:ext cx="2148840" cy="347472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469879" y="2286000"/>
            <a:ext cx="960120" cy="960120"/>
          </a:xfrm>
          <a:prstGeom prst="roundRect">
            <a:avLst>
              <a:gd name="adj" fmla="val 6000"/>
            </a:avLst>
          </a:prstGeom>
          <a:solidFill>
            <a:srgbClr val="0D1429"/>
          </a:solidFill>
          <a:ln w="12700">
            <a:solidFill>
              <a:srgbClr val="8B7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69879" y="2286000"/>
            <a:ext cx="960120" cy="960120"/>
          </a:xfrm>
          <a:prstGeom prst="rect">
            <a:avLst/>
          </a:prstGeom>
          <a:noFill/>
        </p:spPr>
        <p:txBody>
          <a:bodyPr wrap="square" anchor="ctr">
            <a:spAutoFit/>
          </a:bodyPr>
          <a:lstStyle/>
          <a:p>
            <a:pPr algn="ctr">
              <a:defRPr sz="3200" b="0">
                <a:solidFill>
                  <a:srgbClr val="CBD5E1"/>
                </a:solidFill>
                <a:latin typeface="Calibri"/>
              </a:defRPr>
            </a:pPr>
            <a:r>
              <a:t>🛤️</a:t>
            </a:r>
          </a:p>
        </p:txBody>
      </p:sp>
      <p:sp>
        <p:nvSpPr>
          <p:cNvPr id="33" name="TextBox 32"/>
          <p:cNvSpPr txBox="1"/>
          <p:nvPr/>
        </p:nvSpPr>
        <p:spPr>
          <a:xfrm>
            <a:off x="9966959" y="3429000"/>
            <a:ext cx="1965960" cy="365760"/>
          </a:xfrm>
          <a:prstGeom prst="rect">
            <a:avLst/>
          </a:prstGeom>
          <a:noFill/>
        </p:spPr>
        <p:txBody>
          <a:bodyPr wrap="square" anchor="t">
            <a:spAutoFit/>
          </a:bodyPr>
          <a:lstStyle/>
          <a:p>
            <a:pPr algn="ctr">
              <a:defRPr sz="1600" b="1">
                <a:solidFill>
                  <a:srgbClr val="F1F5F9"/>
                </a:solidFill>
                <a:latin typeface="Calibri"/>
              </a:defRPr>
            </a:pPr>
            <a:r>
              <a:t>Learning Path</a:t>
            </a:r>
          </a:p>
        </p:txBody>
      </p:sp>
      <p:sp>
        <p:nvSpPr>
          <p:cNvPr id="34" name="Rectangle 33"/>
          <p:cNvSpPr/>
          <p:nvPr/>
        </p:nvSpPr>
        <p:spPr>
          <a:xfrm>
            <a:off x="10652759" y="3794760"/>
            <a:ext cx="594360" cy="27432"/>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12679" y="3977640"/>
            <a:ext cx="1874519" cy="1371600"/>
          </a:xfrm>
          <a:prstGeom prst="rect">
            <a:avLst/>
          </a:prstGeom>
          <a:noFill/>
        </p:spPr>
        <p:txBody>
          <a:bodyPr wrap="square" anchor="t">
            <a:spAutoFit/>
          </a:bodyPr>
          <a:lstStyle/>
          <a:p>
            <a:pPr algn="ctr">
              <a:defRPr sz="1100" b="0">
                <a:solidFill>
                  <a:srgbClr val="64748B"/>
                </a:solidFill>
                <a:latin typeface="Calibri"/>
              </a:defRPr>
            </a:pPr>
            <a:r>
              <a:t>Step-by-step study</a:t>
            </a:r>
            <a:br/>
            <a:r>
              <a:t>plan with free</a:t>
            </a:r>
            <a:br/>
            <a:r>
              <a:t>resources per step</a:t>
            </a:r>
          </a:p>
        </p:txBody>
      </p:sp>
      <p:sp>
        <p:nvSpPr>
          <p:cNvPr id="36" name="Rounded Rectangle 35"/>
          <p:cNvSpPr/>
          <p:nvPr/>
        </p:nvSpPr>
        <p:spPr>
          <a:xfrm>
            <a:off x="960120" y="5715000"/>
            <a:ext cx="10241280" cy="64008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80160" y="5760720"/>
            <a:ext cx="2743200" cy="320040"/>
          </a:xfrm>
          <a:prstGeom prst="rect">
            <a:avLst/>
          </a:prstGeom>
          <a:noFill/>
        </p:spPr>
        <p:txBody>
          <a:bodyPr wrap="square" anchor="t">
            <a:spAutoFit/>
          </a:bodyPr>
          <a:lstStyle/>
          <a:p>
            <a:pPr algn="l">
              <a:defRPr sz="900" b="1">
                <a:solidFill>
                  <a:srgbClr val="4ADE80"/>
                </a:solidFill>
                <a:latin typeface="Calibri"/>
              </a:defRPr>
            </a:pPr>
            <a:r>
              <a:t>📊 BONUS FEATURE</a:t>
            </a:r>
          </a:p>
        </p:txBody>
      </p:sp>
      <p:sp>
        <p:nvSpPr>
          <p:cNvPr id="38" name="TextBox 37"/>
          <p:cNvSpPr txBox="1"/>
          <p:nvPr/>
        </p:nvSpPr>
        <p:spPr>
          <a:xfrm>
            <a:off x="1280160" y="5989320"/>
            <a:ext cx="9601200" cy="320040"/>
          </a:xfrm>
          <a:prstGeom prst="rect">
            <a:avLst/>
          </a:prstGeom>
          <a:noFill/>
        </p:spPr>
        <p:txBody>
          <a:bodyPr wrap="square" anchor="t">
            <a:spAutoFit/>
          </a:bodyPr>
          <a:lstStyle/>
          <a:p>
            <a:pPr algn="l">
              <a:defRPr sz="1200" b="0">
                <a:solidFill>
                  <a:srgbClr val="CBD5E1"/>
                </a:solidFill>
                <a:latin typeface="Calibri"/>
              </a:defRPr>
            </a:pPr>
            <a:r>
              <a:t>Study History — all sessions are saved to Supabase, so students can revisit past results anytime.</a:t>
            </a:r>
          </a:p>
        </p:txBody>
      </p:sp>
      <p:sp>
        <p:nvSpPr>
          <p:cNvPr id="39" name="TextBox 38"/>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08 — WEBSITE PREVIEW</a:t>
            </a:r>
          </a:p>
        </p:txBody>
      </p:sp>
      <p:sp>
        <p:nvSpPr>
          <p:cNvPr id="4" name="Rounded Rectangle 3"/>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EduGenie Interface</a:t>
            </a:r>
          </a:p>
        </p:txBody>
      </p:sp>
      <p:sp>
        <p:nvSpPr>
          <p:cNvPr id="6" name="Rounded Rectangle 5"/>
          <p:cNvSpPr/>
          <p:nvPr/>
        </p:nvSpPr>
        <p:spPr>
          <a:xfrm>
            <a:off x="548640" y="1828800"/>
            <a:ext cx="5486400" cy="4206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5120640" cy="320040"/>
          </a:xfrm>
          <a:prstGeom prst="rect">
            <a:avLst/>
          </a:prstGeom>
          <a:noFill/>
        </p:spPr>
        <p:txBody>
          <a:bodyPr wrap="square" anchor="t">
            <a:spAutoFit/>
          </a:bodyPr>
          <a:lstStyle/>
          <a:p>
            <a:pPr algn="l">
              <a:defRPr sz="1100" b="1">
                <a:solidFill>
                  <a:srgbClr val="23CBDC"/>
                </a:solidFill>
                <a:latin typeface="Calibri"/>
              </a:defRPr>
            </a:pPr>
            <a:r>
              <a:t>Dashboard View</a:t>
            </a:r>
          </a:p>
        </p:txBody>
      </p:sp>
      <p:sp>
        <p:nvSpPr>
          <p:cNvPr id="8" name="Rectangle 7"/>
          <p:cNvSpPr/>
          <p:nvPr/>
        </p:nvSpPr>
        <p:spPr>
          <a:xfrm>
            <a:off x="685800" y="2286000"/>
            <a:ext cx="1188720" cy="3657600"/>
          </a:xfrm>
          <a:prstGeom prst="rect">
            <a:avLst/>
          </a:prstGeom>
          <a:solidFill>
            <a:srgbClr val="0D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31720"/>
            <a:ext cx="1097280" cy="274320"/>
          </a:xfrm>
          <a:prstGeom prst="rect">
            <a:avLst/>
          </a:prstGeom>
          <a:noFill/>
        </p:spPr>
        <p:txBody>
          <a:bodyPr wrap="square" anchor="t">
            <a:spAutoFit/>
          </a:bodyPr>
          <a:lstStyle/>
          <a:p>
            <a:pPr algn="l">
              <a:defRPr sz="800" b="1">
                <a:solidFill>
                  <a:srgbClr val="F1F5F9"/>
                </a:solidFill>
                <a:latin typeface="Calibri"/>
              </a:defRPr>
            </a:pPr>
            <a:r>
              <a:t>🎓 EduGenie</a:t>
            </a:r>
          </a:p>
        </p:txBody>
      </p:sp>
      <p:sp>
        <p:nvSpPr>
          <p:cNvPr id="10" name="TextBox 9"/>
          <p:cNvSpPr txBox="1"/>
          <p:nvPr/>
        </p:nvSpPr>
        <p:spPr>
          <a:xfrm>
            <a:off x="749808" y="2697480"/>
            <a:ext cx="1005840" cy="274320"/>
          </a:xfrm>
          <a:prstGeom prst="rect">
            <a:avLst/>
          </a:prstGeom>
          <a:noFill/>
        </p:spPr>
        <p:txBody>
          <a:bodyPr wrap="square" anchor="t">
            <a:spAutoFit/>
          </a:bodyPr>
          <a:lstStyle/>
          <a:p>
            <a:pPr algn="l">
              <a:defRPr sz="700" b="1">
                <a:solidFill>
                  <a:srgbClr val="A582FF"/>
                </a:solidFill>
                <a:latin typeface="Calibri"/>
              </a:defRPr>
            </a:pPr>
            <a:r>
              <a:t>Dashboard</a:t>
            </a:r>
          </a:p>
        </p:txBody>
      </p:sp>
      <p:sp>
        <p:nvSpPr>
          <p:cNvPr id="11" name="TextBox 10"/>
          <p:cNvSpPr txBox="1"/>
          <p:nvPr/>
        </p:nvSpPr>
        <p:spPr>
          <a:xfrm>
            <a:off x="749808" y="3063240"/>
            <a:ext cx="1005840" cy="274320"/>
          </a:xfrm>
          <a:prstGeom prst="rect">
            <a:avLst/>
          </a:prstGeom>
          <a:noFill/>
        </p:spPr>
        <p:txBody>
          <a:bodyPr wrap="square" anchor="t">
            <a:spAutoFit/>
          </a:bodyPr>
          <a:lstStyle/>
          <a:p>
            <a:pPr algn="l">
              <a:defRPr sz="700" b="0">
                <a:solidFill>
                  <a:srgbClr val="475569"/>
                </a:solidFill>
                <a:latin typeface="Calibri"/>
              </a:defRPr>
            </a:pPr>
            <a:r>
              <a:t>Ask Q&amp;A</a:t>
            </a:r>
          </a:p>
        </p:txBody>
      </p:sp>
      <p:sp>
        <p:nvSpPr>
          <p:cNvPr id="12" name="TextBox 11"/>
          <p:cNvSpPr txBox="1"/>
          <p:nvPr/>
        </p:nvSpPr>
        <p:spPr>
          <a:xfrm>
            <a:off x="749808" y="3429000"/>
            <a:ext cx="1005840" cy="274320"/>
          </a:xfrm>
          <a:prstGeom prst="rect">
            <a:avLst/>
          </a:prstGeom>
          <a:noFill/>
        </p:spPr>
        <p:txBody>
          <a:bodyPr wrap="square" anchor="t">
            <a:spAutoFit/>
          </a:bodyPr>
          <a:lstStyle/>
          <a:p>
            <a:pPr algn="l">
              <a:defRPr sz="700" b="0">
                <a:solidFill>
                  <a:srgbClr val="475569"/>
                </a:solidFill>
                <a:latin typeface="Calibri"/>
              </a:defRPr>
            </a:pPr>
            <a:r>
              <a:t>Explain</a:t>
            </a:r>
          </a:p>
        </p:txBody>
      </p:sp>
      <p:sp>
        <p:nvSpPr>
          <p:cNvPr id="13" name="TextBox 12"/>
          <p:cNvSpPr txBox="1"/>
          <p:nvPr/>
        </p:nvSpPr>
        <p:spPr>
          <a:xfrm>
            <a:off x="749808" y="3794760"/>
            <a:ext cx="1005840" cy="274320"/>
          </a:xfrm>
          <a:prstGeom prst="rect">
            <a:avLst/>
          </a:prstGeom>
          <a:noFill/>
        </p:spPr>
        <p:txBody>
          <a:bodyPr wrap="square" anchor="t">
            <a:spAutoFit/>
          </a:bodyPr>
          <a:lstStyle/>
          <a:p>
            <a:pPr algn="l">
              <a:defRPr sz="700" b="0">
                <a:solidFill>
                  <a:srgbClr val="475569"/>
                </a:solidFill>
                <a:latin typeface="Calibri"/>
              </a:defRPr>
            </a:pPr>
            <a:r>
              <a:t>Quiz</a:t>
            </a:r>
          </a:p>
        </p:txBody>
      </p:sp>
      <p:sp>
        <p:nvSpPr>
          <p:cNvPr id="14" name="TextBox 13"/>
          <p:cNvSpPr txBox="1"/>
          <p:nvPr/>
        </p:nvSpPr>
        <p:spPr>
          <a:xfrm>
            <a:off x="749808" y="4160520"/>
            <a:ext cx="1005840" cy="274320"/>
          </a:xfrm>
          <a:prstGeom prst="rect">
            <a:avLst/>
          </a:prstGeom>
          <a:noFill/>
        </p:spPr>
        <p:txBody>
          <a:bodyPr wrap="square" anchor="t">
            <a:spAutoFit/>
          </a:bodyPr>
          <a:lstStyle/>
          <a:p>
            <a:pPr algn="l">
              <a:defRPr sz="700" b="0">
                <a:solidFill>
                  <a:srgbClr val="475569"/>
                </a:solidFill>
                <a:latin typeface="Calibri"/>
              </a:defRPr>
            </a:pPr>
            <a:r>
              <a:t>Summary</a:t>
            </a:r>
          </a:p>
        </p:txBody>
      </p:sp>
      <p:sp>
        <p:nvSpPr>
          <p:cNvPr id="15" name="TextBox 14"/>
          <p:cNvSpPr txBox="1"/>
          <p:nvPr/>
        </p:nvSpPr>
        <p:spPr>
          <a:xfrm>
            <a:off x="749808" y="4526280"/>
            <a:ext cx="1005840" cy="274320"/>
          </a:xfrm>
          <a:prstGeom prst="rect">
            <a:avLst/>
          </a:prstGeom>
          <a:noFill/>
        </p:spPr>
        <p:txBody>
          <a:bodyPr wrap="square" anchor="t">
            <a:spAutoFit/>
          </a:bodyPr>
          <a:lstStyle/>
          <a:p>
            <a:pPr algn="l">
              <a:defRPr sz="700" b="0">
                <a:solidFill>
                  <a:srgbClr val="475569"/>
                </a:solidFill>
                <a:latin typeface="Calibri"/>
              </a:defRPr>
            </a:pPr>
            <a:r>
              <a:t>Path</a:t>
            </a:r>
          </a:p>
        </p:txBody>
      </p:sp>
      <p:sp>
        <p:nvSpPr>
          <p:cNvPr id="16" name="TextBox 15"/>
          <p:cNvSpPr txBox="1"/>
          <p:nvPr/>
        </p:nvSpPr>
        <p:spPr>
          <a:xfrm>
            <a:off x="2011680" y="2377440"/>
            <a:ext cx="3840480" cy="274320"/>
          </a:xfrm>
          <a:prstGeom prst="rect">
            <a:avLst/>
          </a:prstGeom>
          <a:noFill/>
        </p:spPr>
        <p:txBody>
          <a:bodyPr wrap="square" anchor="t">
            <a:spAutoFit/>
          </a:bodyPr>
          <a:lstStyle/>
          <a:p>
            <a:pPr algn="ctr">
              <a:defRPr sz="700" b="1">
                <a:solidFill>
                  <a:srgbClr val="23CBDC"/>
                </a:solidFill>
                <a:latin typeface="Calibri"/>
              </a:defRPr>
            </a:pPr>
            <a:r>
              <a:t>AI-POWERED LEARNING</a:t>
            </a:r>
          </a:p>
        </p:txBody>
      </p:sp>
      <p:sp>
        <p:nvSpPr>
          <p:cNvPr id="17" name="TextBox 16"/>
          <p:cNvSpPr txBox="1"/>
          <p:nvPr/>
        </p:nvSpPr>
        <p:spPr>
          <a:xfrm>
            <a:off x="2011680" y="2651760"/>
            <a:ext cx="3840480" cy="457200"/>
          </a:xfrm>
          <a:prstGeom prst="rect">
            <a:avLst/>
          </a:prstGeom>
          <a:noFill/>
        </p:spPr>
        <p:txBody>
          <a:bodyPr wrap="square" anchor="t">
            <a:spAutoFit/>
          </a:bodyPr>
          <a:lstStyle/>
          <a:p>
            <a:pPr algn="ctr">
              <a:defRPr sz="1400" b="1">
                <a:solidFill>
                  <a:srgbClr val="F1F5F9"/>
                </a:solidFill>
                <a:latin typeface="Calibri"/>
              </a:defRPr>
            </a:pPr>
            <a:r>
              <a:t>Welcome to EduGenie</a:t>
            </a:r>
          </a:p>
        </p:txBody>
      </p:sp>
      <p:sp>
        <p:nvSpPr>
          <p:cNvPr id="18" name="Rounded Rectangle 17"/>
          <p:cNvSpPr/>
          <p:nvPr/>
        </p:nvSpPr>
        <p:spPr>
          <a:xfrm>
            <a:off x="2057400" y="3200400"/>
            <a:ext cx="1828800" cy="9601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03120" y="3246120"/>
            <a:ext cx="1737360" cy="320040"/>
          </a:xfrm>
          <a:prstGeom prst="rect">
            <a:avLst/>
          </a:prstGeom>
          <a:noFill/>
        </p:spPr>
        <p:txBody>
          <a:bodyPr wrap="square" anchor="t">
            <a:spAutoFit/>
          </a:bodyPr>
          <a:lstStyle/>
          <a:p>
            <a:pPr algn="l">
              <a:defRPr sz="800" b="1">
                <a:solidFill>
                  <a:srgbClr val="F1F5F9"/>
                </a:solidFill>
                <a:latin typeface="Calibri"/>
              </a:defRPr>
            </a:pPr>
            <a:r>
              <a:t>💬 Ask a Question</a:t>
            </a:r>
          </a:p>
        </p:txBody>
      </p:sp>
      <p:sp>
        <p:nvSpPr>
          <p:cNvPr id="20" name="Rounded Rectangle 19"/>
          <p:cNvSpPr/>
          <p:nvPr/>
        </p:nvSpPr>
        <p:spPr>
          <a:xfrm>
            <a:off x="4023360" y="3200400"/>
            <a:ext cx="1828800" cy="9601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69079" y="3246120"/>
            <a:ext cx="1737360" cy="320040"/>
          </a:xfrm>
          <a:prstGeom prst="rect">
            <a:avLst/>
          </a:prstGeom>
          <a:noFill/>
        </p:spPr>
        <p:txBody>
          <a:bodyPr wrap="square" anchor="t">
            <a:spAutoFit/>
          </a:bodyPr>
          <a:lstStyle/>
          <a:p>
            <a:pPr algn="l">
              <a:defRPr sz="800" b="1">
                <a:solidFill>
                  <a:srgbClr val="F1F5F9"/>
                </a:solidFill>
                <a:latin typeface="Calibri"/>
              </a:defRPr>
            </a:pPr>
            <a:r>
              <a:t>📖 Explain a Concept</a:t>
            </a:r>
          </a:p>
        </p:txBody>
      </p:sp>
      <p:sp>
        <p:nvSpPr>
          <p:cNvPr id="22" name="Rounded Rectangle 21"/>
          <p:cNvSpPr/>
          <p:nvPr/>
        </p:nvSpPr>
        <p:spPr>
          <a:xfrm>
            <a:off x="2057400" y="4297680"/>
            <a:ext cx="1828800" cy="9601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03120" y="4343400"/>
            <a:ext cx="1737360" cy="320040"/>
          </a:xfrm>
          <a:prstGeom prst="rect">
            <a:avLst/>
          </a:prstGeom>
          <a:noFill/>
        </p:spPr>
        <p:txBody>
          <a:bodyPr wrap="square" anchor="t">
            <a:spAutoFit/>
          </a:bodyPr>
          <a:lstStyle/>
          <a:p>
            <a:pPr algn="l">
              <a:defRPr sz="800" b="1">
                <a:solidFill>
                  <a:srgbClr val="F1F5F9"/>
                </a:solidFill>
                <a:latin typeface="Calibri"/>
              </a:defRPr>
            </a:pPr>
            <a:r>
              <a:t>🧠 Generate a Quiz</a:t>
            </a:r>
          </a:p>
        </p:txBody>
      </p:sp>
      <p:sp>
        <p:nvSpPr>
          <p:cNvPr id="24" name="Rounded Rectangle 23"/>
          <p:cNvSpPr/>
          <p:nvPr/>
        </p:nvSpPr>
        <p:spPr>
          <a:xfrm>
            <a:off x="4023360" y="4297680"/>
            <a:ext cx="1828800" cy="9601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69079" y="4343400"/>
            <a:ext cx="1737360" cy="320040"/>
          </a:xfrm>
          <a:prstGeom prst="rect">
            <a:avLst/>
          </a:prstGeom>
          <a:noFill/>
        </p:spPr>
        <p:txBody>
          <a:bodyPr wrap="square" anchor="t">
            <a:spAutoFit/>
          </a:bodyPr>
          <a:lstStyle/>
          <a:p>
            <a:pPr algn="l">
              <a:defRPr sz="800" b="1">
                <a:solidFill>
                  <a:srgbClr val="F1F5F9"/>
                </a:solidFill>
                <a:latin typeface="Calibri"/>
              </a:defRPr>
            </a:pPr>
            <a:r>
              <a:t>📝 Summarize Notes</a:t>
            </a:r>
          </a:p>
        </p:txBody>
      </p:sp>
      <p:sp>
        <p:nvSpPr>
          <p:cNvPr id="26" name="Rounded Rectangle 25"/>
          <p:cNvSpPr/>
          <p:nvPr/>
        </p:nvSpPr>
        <p:spPr>
          <a:xfrm>
            <a:off x="3017520" y="5394960"/>
            <a:ext cx="1463040" cy="274320"/>
          </a:xfrm>
          <a:prstGeom prst="roundRect">
            <a:avLst>
              <a:gd name="adj" fmla="val 6000"/>
            </a:avLst>
          </a:prstGeom>
          <a:solidFill>
            <a:srgbClr val="0A1123"/>
          </a:solidFill>
          <a:ln w="12700">
            <a:solidFill>
              <a:srgbClr val="4A3A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5394960"/>
            <a:ext cx="1463040" cy="274320"/>
          </a:xfrm>
          <a:prstGeom prst="rect">
            <a:avLst/>
          </a:prstGeom>
          <a:noFill/>
        </p:spPr>
        <p:txBody>
          <a:bodyPr wrap="square" anchor="ctr">
            <a:spAutoFit/>
          </a:bodyPr>
          <a:lstStyle/>
          <a:p>
            <a:pPr algn="ctr">
              <a:defRPr sz="700" b="0">
                <a:solidFill>
                  <a:srgbClr val="4ADE80"/>
                </a:solidFill>
                <a:latin typeface="Calibri"/>
              </a:defRPr>
            </a:pPr>
            <a:r>
              <a:t>● Gemini Connected</a:t>
            </a:r>
          </a:p>
        </p:txBody>
      </p:sp>
      <p:sp>
        <p:nvSpPr>
          <p:cNvPr id="28" name="Rounded Rectangle 27"/>
          <p:cNvSpPr/>
          <p:nvPr/>
        </p:nvSpPr>
        <p:spPr>
          <a:xfrm>
            <a:off x="6217920" y="1828800"/>
            <a:ext cx="5486400" cy="42062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920240"/>
            <a:ext cx="5120640" cy="320040"/>
          </a:xfrm>
          <a:prstGeom prst="rect">
            <a:avLst/>
          </a:prstGeom>
          <a:noFill/>
        </p:spPr>
        <p:txBody>
          <a:bodyPr wrap="square" anchor="t">
            <a:spAutoFit/>
          </a:bodyPr>
          <a:lstStyle/>
          <a:p>
            <a:pPr algn="l">
              <a:defRPr sz="1100" b="1">
                <a:solidFill>
                  <a:srgbClr val="23CBDC"/>
                </a:solidFill>
                <a:latin typeface="Calibri"/>
              </a:defRPr>
            </a:pPr>
            <a:r>
              <a:t>Quiz Generator View</a:t>
            </a:r>
          </a:p>
        </p:txBody>
      </p:sp>
      <p:sp>
        <p:nvSpPr>
          <p:cNvPr id="30" name="Rectangle 29"/>
          <p:cNvSpPr/>
          <p:nvPr/>
        </p:nvSpPr>
        <p:spPr>
          <a:xfrm>
            <a:off x="6355080" y="2286000"/>
            <a:ext cx="1188720" cy="3657600"/>
          </a:xfrm>
          <a:prstGeom prst="rect">
            <a:avLst/>
          </a:prstGeom>
          <a:solidFill>
            <a:srgbClr val="0D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2331720"/>
            <a:ext cx="1097280" cy="274320"/>
          </a:xfrm>
          <a:prstGeom prst="rect">
            <a:avLst/>
          </a:prstGeom>
          <a:noFill/>
        </p:spPr>
        <p:txBody>
          <a:bodyPr wrap="square" anchor="t">
            <a:spAutoFit/>
          </a:bodyPr>
          <a:lstStyle/>
          <a:p>
            <a:pPr algn="l">
              <a:defRPr sz="800" b="1">
                <a:solidFill>
                  <a:srgbClr val="F1F5F9"/>
                </a:solidFill>
                <a:latin typeface="Calibri"/>
              </a:defRPr>
            </a:pPr>
            <a:r>
              <a:t>🎓 EduGenie</a:t>
            </a:r>
          </a:p>
        </p:txBody>
      </p:sp>
      <p:sp>
        <p:nvSpPr>
          <p:cNvPr id="32" name="TextBox 31"/>
          <p:cNvSpPr txBox="1"/>
          <p:nvPr/>
        </p:nvSpPr>
        <p:spPr>
          <a:xfrm>
            <a:off x="6419088" y="2697480"/>
            <a:ext cx="1005840" cy="274320"/>
          </a:xfrm>
          <a:prstGeom prst="rect">
            <a:avLst/>
          </a:prstGeom>
          <a:noFill/>
        </p:spPr>
        <p:txBody>
          <a:bodyPr wrap="square" anchor="t">
            <a:spAutoFit/>
          </a:bodyPr>
          <a:lstStyle/>
          <a:p>
            <a:pPr algn="l">
              <a:defRPr sz="700" b="0">
                <a:solidFill>
                  <a:srgbClr val="475569"/>
                </a:solidFill>
                <a:latin typeface="Calibri"/>
              </a:defRPr>
            </a:pPr>
            <a:r>
              <a:t>Dashboard</a:t>
            </a:r>
          </a:p>
        </p:txBody>
      </p:sp>
      <p:sp>
        <p:nvSpPr>
          <p:cNvPr id="33" name="TextBox 32"/>
          <p:cNvSpPr txBox="1"/>
          <p:nvPr/>
        </p:nvSpPr>
        <p:spPr>
          <a:xfrm>
            <a:off x="6419088" y="3063240"/>
            <a:ext cx="1005840" cy="274320"/>
          </a:xfrm>
          <a:prstGeom prst="rect">
            <a:avLst/>
          </a:prstGeom>
          <a:noFill/>
        </p:spPr>
        <p:txBody>
          <a:bodyPr wrap="square" anchor="t">
            <a:spAutoFit/>
          </a:bodyPr>
          <a:lstStyle/>
          <a:p>
            <a:pPr algn="l">
              <a:defRPr sz="700" b="0">
                <a:solidFill>
                  <a:srgbClr val="475569"/>
                </a:solidFill>
                <a:latin typeface="Calibri"/>
              </a:defRPr>
            </a:pPr>
            <a:r>
              <a:t>Ask Q&amp;A</a:t>
            </a:r>
          </a:p>
        </p:txBody>
      </p:sp>
      <p:sp>
        <p:nvSpPr>
          <p:cNvPr id="34" name="TextBox 33"/>
          <p:cNvSpPr txBox="1"/>
          <p:nvPr/>
        </p:nvSpPr>
        <p:spPr>
          <a:xfrm>
            <a:off x="6419088" y="3429000"/>
            <a:ext cx="1005840" cy="274320"/>
          </a:xfrm>
          <a:prstGeom prst="rect">
            <a:avLst/>
          </a:prstGeom>
          <a:noFill/>
        </p:spPr>
        <p:txBody>
          <a:bodyPr wrap="square" anchor="t">
            <a:spAutoFit/>
          </a:bodyPr>
          <a:lstStyle/>
          <a:p>
            <a:pPr algn="l">
              <a:defRPr sz="700" b="0">
                <a:solidFill>
                  <a:srgbClr val="475569"/>
                </a:solidFill>
                <a:latin typeface="Calibri"/>
              </a:defRPr>
            </a:pPr>
            <a:r>
              <a:t>Explain</a:t>
            </a:r>
          </a:p>
        </p:txBody>
      </p:sp>
      <p:sp>
        <p:nvSpPr>
          <p:cNvPr id="35" name="TextBox 34"/>
          <p:cNvSpPr txBox="1"/>
          <p:nvPr/>
        </p:nvSpPr>
        <p:spPr>
          <a:xfrm>
            <a:off x="6419088" y="3794760"/>
            <a:ext cx="1005840" cy="274320"/>
          </a:xfrm>
          <a:prstGeom prst="rect">
            <a:avLst/>
          </a:prstGeom>
          <a:noFill/>
        </p:spPr>
        <p:txBody>
          <a:bodyPr wrap="square" anchor="t">
            <a:spAutoFit/>
          </a:bodyPr>
          <a:lstStyle/>
          <a:p>
            <a:pPr algn="l">
              <a:defRPr sz="700" b="1">
                <a:solidFill>
                  <a:srgbClr val="A582FF"/>
                </a:solidFill>
                <a:latin typeface="Calibri"/>
              </a:defRPr>
            </a:pPr>
            <a:r>
              <a:t>Quiz</a:t>
            </a:r>
          </a:p>
        </p:txBody>
      </p:sp>
      <p:sp>
        <p:nvSpPr>
          <p:cNvPr id="36" name="TextBox 35"/>
          <p:cNvSpPr txBox="1"/>
          <p:nvPr/>
        </p:nvSpPr>
        <p:spPr>
          <a:xfrm>
            <a:off x="6419088" y="4160520"/>
            <a:ext cx="1005840" cy="274320"/>
          </a:xfrm>
          <a:prstGeom prst="rect">
            <a:avLst/>
          </a:prstGeom>
          <a:noFill/>
        </p:spPr>
        <p:txBody>
          <a:bodyPr wrap="square" anchor="t">
            <a:spAutoFit/>
          </a:bodyPr>
          <a:lstStyle/>
          <a:p>
            <a:pPr algn="l">
              <a:defRPr sz="700" b="0">
                <a:solidFill>
                  <a:srgbClr val="475569"/>
                </a:solidFill>
                <a:latin typeface="Calibri"/>
              </a:defRPr>
            </a:pPr>
            <a:r>
              <a:t>Summary</a:t>
            </a:r>
          </a:p>
        </p:txBody>
      </p:sp>
      <p:sp>
        <p:nvSpPr>
          <p:cNvPr id="37" name="TextBox 36"/>
          <p:cNvSpPr txBox="1"/>
          <p:nvPr/>
        </p:nvSpPr>
        <p:spPr>
          <a:xfrm>
            <a:off x="6419088" y="4526280"/>
            <a:ext cx="1005840" cy="274320"/>
          </a:xfrm>
          <a:prstGeom prst="rect">
            <a:avLst/>
          </a:prstGeom>
          <a:noFill/>
        </p:spPr>
        <p:txBody>
          <a:bodyPr wrap="square" anchor="t">
            <a:spAutoFit/>
          </a:bodyPr>
          <a:lstStyle/>
          <a:p>
            <a:pPr algn="l">
              <a:defRPr sz="700" b="0">
                <a:solidFill>
                  <a:srgbClr val="475569"/>
                </a:solidFill>
                <a:latin typeface="Calibri"/>
              </a:defRPr>
            </a:pPr>
            <a:r>
              <a:t>Path</a:t>
            </a:r>
          </a:p>
        </p:txBody>
      </p:sp>
      <p:sp>
        <p:nvSpPr>
          <p:cNvPr id="38" name="TextBox 37"/>
          <p:cNvSpPr txBox="1"/>
          <p:nvPr/>
        </p:nvSpPr>
        <p:spPr>
          <a:xfrm>
            <a:off x="7680960" y="2377440"/>
            <a:ext cx="3840480" cy="320040"/>
          </a:xfrm>
          <a:prstGeom prst="rect">
            <a:avLst/>
          </a:prstGeom>
          <a:noFill/>
        </p:spPr>
        <p:txBody>
          <a:bodyPr wrap="square" anchor="t">
            <a:spAutoFit/>
          </a:bodyPr>
          <a:lstStyle/>
          <a:p>
            <a:pPr algn="l">
              <a:defRPr sz="1300" b="1">
                <a:solidFill>
                  <a:srgbClr val="F1F5F9"/>
                </a:solidFill>
                <a:latin typeface="Calibri"/>
              </a:defRPr>
            </a:pPr>
            <a:r>
              <a:t>Generate a Quiz</a:t>
            </a:r>
          </a:p>
        </p:txBody>
      </p:sp>
      <p:sp>
        <p:nvSpPr>
          <p:cNvPr id="39" name="TextBox 38"/>
          <p:cNvSpPr txBox="1"/>
          <p:nvPr/>
        </p:nvSpPr>
        <p:spPr>
          <a:xfrm>
            <a:off x="7680960" y="2697480"/>
            <a:ext cx="3840480" cy="228600"/>
          </a:xfrm>
          <a:prstGeom prst="rect">
            <a:avLst/>
          </a:prstGeom>
          <a:noFill/>
        </p:spPr>
        <p:txBody>
          <a:bodyPr wrap="square" anchor="t">
            <a:spAutoFit/>
          </a:bodyPr>
          <a:lstStyle/>
          <a:p>
            <a:pPr algn="l">
              <a:defRPr sz="800" b="0">
                <a:solidFill>
                  <a:srgbClr val="64748B"/>
                </a:solidFill>
                <a:latin typeface="Calibri"/>
              </a:defRPr>
            </a:pPr>
            <a:r>
              <a:t>Test your understanding with auto-generated questions.</a:t>
            </a:r>
          </a:p>
        </p:txBody>
      </p:sp>
      <p:sp>
        <p:nvSpPr>
          <p:cNvPr id="40" name="Rounded Rectangle 39"/>
          <p:cNvSpPr/>
          <p:nvPr/>
        </p:nvSpPr>
        <p:spPr>
          <a:xfrm>
            <a:off x="7726679" y="3063240"/>
            <a:ext cx="1234440" cy="502920"/>
          </a:xfrm>
          <a:prstGeom prst="roundRect">
            <a:avLst>
              <a:gd name="adj" fmla="val 6000"/>
            </a:avLst>
          </a:prstGeom>
          <a:solidFill>
            <a:srgbClr val="0D1429"/>
          </a:solidFill>
          <a:ln w="12700">
            <a:solidFill>
              <a:srgbClr val="23CB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26679" y="3063240"/>
            <a:ext cx="1234440" cy="502920"/>
          </a:xfrm>
          <a:prstGeom prst="rect">
            <a:avLst/>
          </a:prstGeom>
          <a:noFill/>
        </p:spPr>
        <p:txBody>
          <a:bodyPr wrap="square" anchor="ctr">
            <a:spAutoFit/>
          </a:bodyPr>
          <a:lstStyle/>
          <a:p>
            <a:pPr algn="ctr">
              <a:defRPr sz="800" b="1">
                <a:solidFill>
                  <a:srgbClr val="F1F5F9"/>
                </a:solidFill>
                <a:latin typeface="Calibri"/>
              </a:defRPr>
            </a:pPr>
            <a:r>
              <a:t>Beginner</a:t>
            </a:r>
          </a:p>
        </p:txBody>
      </p:sp>
      <p:sp>
        <p:nvSpPr>
          <p:cNvPr id="42" name="Rounded Rectangle 41"/>
          <p:cNvSpPr/>
          <p:nvPr/>
        </p:nvSpPr>
        <p:spPr>
          <a:xfrm>
            <a:off x="9052559" y="3063240"/>
            <a:ext cx="1234440" cy="5029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59" y="3063240"/>
            <a:ext cx="1234440" cy="502920"/>
          </a:xfrm>
          <a:prstGeom prst="rect">
            <a:avLst/>
          </a:prstGeom>
          <a:noFill/>
        </p:spPr>
        <p:txBody>
          <a:bodyPr wrap="square" anchor="ctr">
            <a:spAutoFit/>
          </a:bodyPr>
          <a:lstStyle/>
          <a:p>
            <a:pPr algn="ctr">
              <a:defRPr sz="800" b="0">
                <a:solidFill>
                  <a:srgbClr val="475569"/>
                </a:solidFill>
                <a:latin typeface="Calibri"/>
              </a:defRPr>
            </a:pPr>
            <a:r>
              <a:t>Intermediate</a:t>
            </a:r>
          </a:p>
        </p:txBody>
      </p:sp>
      <p:sp>
        <p:nvSpPr>
          <p:cNvPr id="44" name="Rounded Rectangle 43"/>
          <p:cNvSpPr/>
          <p:nvPr/>
        </p:nvSpPr>
        <p:spPr>
          <a:xfrm>
            <a:off x="10378440" y="3063240"/>
            <a:ext cx="1234440" cy="502920"/>
          </a:xfrm>
          <a:prstGeom prst="roundRect">
            <a:avLst>
              <a:gd name="adj" fmla="val 6000"/>
            </a:avLst>
          </a:prstGeom>
          <a:solidFill>
            <a:srgbClr val="0D1429"/>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78440" y="3063240"/>
            <a:ext cx="1234440" cy="502920"/>
          </a:xfrm>
          <a:prstGeom prst="rect">
            <a:avLst/>
          </a:prstGeom>
          <a:noFill/>
        </p:spPr>
        <p:txBody>
          <a:bodyPr wrap="square" anchor="ctr">
            <a:spAutoFit/>
          </a:bodyPr>
          <a:lstStyle/>
          <a:p>
            <a:pPr algn="ctr">
              <a:defRPr sz="800" b="0">
                <a:solidFill>
                  <a:srgbClr val="475569"/>
                </a:solidFill>
                <a:latin typeface="Calibri"/>
              </a:defRPr>
            </a:pPr>
            <a:r>
              <a:t>Advanced</a:t>
            </a:r>
          </a:p>
        </p:txBody>
      </p:sp>
      <p:sp>
        <p:nvSpPr>
          <p:cNvPr id="46" name="Rounded Rectangle 45"/>
          <p:cNvSpPr/>
          <p:nvPr/>
        </p:nvSpPr>
        <p:spPr>
          <a:xfrm>
            <a:off x="7726679" y="3703320"/>
            <a:ext cx="3749039" cy="640080"/>
          </a:xfrm>
          <a:prstGeom prst="roundRect">
            <a:avLst>
              <a:gd name="adj" fmla="val 6000"/>
            </a:avLst>
          </a:prstGeom>
          <a:solidFill>
            <a:srgbClr val="0D1429"/>
          </a:solidFill>
          <a:ln w="12700">
            <a:solidFill>
              <a:srgbClr val="303C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0" y="3703320"/>
            <a:ext cx="3474720" cy="640080"/>
          </a:xfrm>
          <a:prstGeom prst="rect">
            <a:avLst/>
          </a:prstGeom>
          <a:noFill/>
        </p:spPr>
        <p:txBody>
          <a:bodyPr wrap="square" anchor="ctr">
            <a:spAutoFit/>
          </a:bodyPr>
          <a:lstStyle/>
          <a:p>
            <a:pPr algn="l">
              <a:defRPr sz="900" b="0">
                <a:solidFill>
                  <a:srgbClr val="475569"/>
                </a:solidFill>
                <a:latin typeface="Calibri"/>
              </a:defRPr>
            </a:pPr>
            <a:r>
              <a:t>e.g. Newton's Laws...</a:t>
            </a:r>
          </a:p>
        </p:txBody>
      </p:sp>
      <p:sp>
        <p:nvSpPr>
          <p:cNvPr id="48" name="Rounded Rectangle 47"/>
          <p:cNvSpPr/>
          <p:nvPr/>
        </p:nvSpPr>
        <p:spPr>
          <a:xfrm>
            <a:off x="9601200" y="4434840"/>
            <a:ext cx="1828800" cy="411480"/>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0" y="4434840"/>
            <a:ext cx="1828800" cy="411480"/>
          </a:xfrm>
          <a:prstGeom prst="rect">
            <a:avLst/>
          </a:prstGeom>
          <a:noFill/>
        </p:spPr>
        <p:txBody>
          <a:bodyPr wrap="square" anchor="ctr">
            <a:spAutoFit/>
          </a:bodyPr>
          <a:lstStyle/>
          <a:p>
            <a:pPr algn="ctr">
              <a:defRPr sz="900" b="1">
                <a:solidFill>
                  <a:srgbClr val="090E1D"/>
                </a:solidFill>
                <a:latin typeface="Calibri"/>
              </a:defRPr>
            </a:pPr>
            <a:r>
              <a:t>Generate →</a:t>
            </a:r>
          </a:p>
        </p:txBody>
      </p:sp>
      <p:sp>
        <p:nvSpPr>
          <p:cNvPr id="50" name="Rounded Rectangle 49"/>
          <p:cNvSpPr/>
          <p:nvPr/>
        </p:nvSpPr>
        <p:spPr>
          <a:xfrm>
            <a:off x="7726679" y="4983480"/>
            <a:ext cx="3749039" cy="868680"/>
          </a:xfrm>
          <a:prstGeom prst="roundRect">
            <a:avLst>
              <a:gd name="adj" fmla="val 6000"/>
            </a:avLst>
          </a:prstGeom>
          <a:solidFill>
            <a:srgbClr val="0A1123"/>
          </a:solidFill>
          <a:ln w="12700">
            <a:solidFill>
              <a:srgbClr val="1B3A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63840" y="5029200"/>
            <a:ext cx="2743200" cy="228600"/>
          </a:xfrm>
          <a:prstGeom prst="rect">
            <a:avLst/>
          </a:prstGeom>
          <a:noFill/>
        </p:spPr>
        <p:txBody>
          <a:bodyPr wrap="square" anchor="t">
            <a:spAutoFit/>
          </a:bodyPr>
          <a:lstStyle/>
          <a:p>
            <a:pPr algn="l">
              <a:defRPr sz="600" b="1">
                <a:solidFill>
                  <a:srgbClr val="23CBDC"/>
                </a:solidFill>
                <a:latin typeface="Calibri"/>
              </a:defRPr>
            </a:pPr>
            <a:r>
              <a:t>EDUGENIE SAYS</a:t>
            </a:r>
          </a:p>
        </p:txBody>
      </p:sp>
      <p:sp>
        <p:nvSpPr>
          <p:cNvPr id="52" name="TextBox 51"/>
          <p:cNvSpPr txBox="1"/>
          <p:nvPr/>
        </p:nvSpPr>
        <p:spPr>
          <a:xfrm>
            <a:off x="7863840" y="5212080"/>
            <a:ext cx="2743200" cy="274320"/>
          </a:xfrm>
          <a:prstGeom prst="rect">
            <a:avLst/>
          </a:prstGeom>
          <a:noFill/>
        </p:spPr>
        <p:txBody>
          <a:bodyPr wrap="square" anchor="t">
            <a:spAutoFit/>
          </a:bodyPr>
          <a:lstStyle/>
          <a:p>
            <a:pPr algn="l">
              <a:defRPr sz="900" b="1">
                <a:solidFill>
                  <a:srgbClr val="F1F5F9"/>
                </a:solidFill>
                <a:latin typeface="Calibri"/>
              </a:defRPr>
            </a:pPr>
            <a:r>
              <a:t>1. Which best describes...</a:t>
            </a:r>
          </a:p>
        </p:txBody>
      </p:sp>
      <p:sp>
        <p:nvSpPr>
          <p:cNvPr id="53" name="TextBox 52"/>
          <p:cNvSpPr txBox="1"/>
          <p:nvPr/>
        </p:nvSpPr>
        <p:spPr>
          <a:xfrm>
            <a:off x="7863840" y="5486400"/>
            <a:ext cx="2743200" cy="274320"/>
          </a:xfrm>
          <a:prstGeom prst="rect">
            <a:avLst/>
          </a:prstGeom>
          <a:noFill/>
        </p:spPr>
        <p:txBody>
          <a:bodyPr wrap="square" anchor="t">
            <a:spAutoFit/>
          </a:bodyPr>
          <a:lstStyle/>
          <a:p>
            <a:pPr algn="l">
              <a:defRPr sz="800" b="0">
                <a:solidFill>
                  <a:srgbClr val="CBD5E1"/>
                </a:solidFill>
                <a:latin typeface="Calibri"/>
              </a:defRPr>
            </a:pPr>
            <a:r>
              <a:t>○ Option A  ○ Option B</a:t>
            </a:r>
          </a:p>
        </p:txBody>
      </p:sp>
      <p:sp>
        <p:nvSpPr>
          <p:cNvPr id="54" name="TextBox 53"/>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4114800"/>
            <a:ext cx="3657600" cy="3657600"/>
          </a:xfrm>
          <a:prstGeom prst="ellipse">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09 — ADVANTAGES</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Why EduGenie Stands Out</a:t>
            </a:r>
          </a:p>
        </p:txBody>
      </p:sp>
      <p:sp>
        <p:nvSpPr>
          <p:cNvPr id="7" name="Rounded Rectangle 6"/>
          <p:cNvSpPr/>
          <p:nvPr/>
        </p:nvSpPr>
        <p:spPr>
          <a:xfrm>
            <a:off x="96012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9" name="Rectangle 8"/>
          <p:cNvSpPr/>
          <p:nvPr/>
        </p:nvSpPr>
        <p:spPr>
          <a:xfrm>
            <a:off x="1828800" y="1965960"/>
            <a:ext cx="36576" cy="960120"/>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0" y="1965960"/>
            <a:ext cx="3749039" cy="320040"/>
          </a:xfrm>
          <a:prstGeom prst="rect">
            <a:avLst/>
          </a:prstGeom>
          <a:noFill/>
        </p:spPr>
        <p:txBody>
          <a:bodyPr wrap="square" anchor="t">
            <a:spAutoFit/>
          </a:bodyPr>
          <a:lstStyle/>
          <a:p>
            <a:pPr algn="l">
              <a:defRPr sz="1500" b="1">
                <a:solidFill>
                  <a:srgbClr val="F1F5F9"/>
                </a:solidFill>
                <a:latin typeface="Calibri"/>
              </a:defRPr>
            </a:pPr>
            <a:r>
              <a:t>Instant AI Responses</a:t>
            </a:r>
          </a:p>
        </p:txBody>
      </p:sp>
      <p:sp>
        <p:nvSpPr>
          <p:cNvPr id="11" name="TextBox 10"/>
          <p:cNvSpPr txBox="1"/>
          <p:nvPr/>
        </p:nvSpPr>
        <p:spPr>
          <a:xfrm>
            <a:off x="2011680" y="2331720"/>
            <a:ext cx="3749039" cy="640080"/>
          </a:xfrm>
          <a:prstGeom prst="rect">
            <a:avLst/>
          </a:prstGeom>
          <a:noFill/>
        </p:spPr>
        <p:txBody>
          <a:bodyPr wrap="square" anchor="t">
            <a:spAutoFit/>
          </a:bodyPr>
          <a:lstStyle/>
          <a:p>
            <a:pPr algn="l">
              <a:defRPr sz="1100" b="0">
                <a:solidFill>
                  <a:srgbClr val="64748B"/>
                </a:solidFill>
                <a:latin typeface="Calibri"/>
              </a:defRPr>
            </a:pPr>
            <a:r>
              <a:t>Google Gemini delivers answers in seconds — no waiting, no searching through pages of results.</a:t>
            </a:r>
          </a:p>
        </p:txBody>
      </p:sp>
      <p:sp>
        <p:nvSpPr>
          <p:cNvPr id="12" name="Rounded Rectangle 11"/>
          <p:cNvSpPr/>
          <p:nvPr/>
        </p:nvSpPr>
        <p:spPr>
          <a:xfrm>
            <a:off x="626364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1168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14" name="Rectangle 13"/>
          <p:cNvSpPr/>
          <p:nvPr/>
        </p:nvSpPr>
        <p:spPr>
          <a:xfrm>
            <a:off x="7132320" y="1965960"/>
            <a:ext cx="36576" cy="960120"/>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965960"/>
            <a:ext cx="3749039" cy="320040"/>
          </a:xfrm>
          <a:prstGeom prst="rect">
            <a:avLst/>
          </a:prstGeom>
          <a:noFill/>
        </p:spPr>
        <p:txBody>
          <a:bodyPr wrap="square" anchor="t">
            <a:spAutoFit/>
          </a:bodyPr>
          <a:lstStyle/>
          <a:p>
            <a:pPr algn="l">
              <a:defRPr sz="1500" b="1">
                <a:solidFill>
                  <a:srgbClr val="F1F5F9"/>
                </a:solidFill>
                <a:latin typeface="Calibri"/>
              </a:defRPr>
            </a:pPr>
            <a:r>
              <a:t>Adaptive Learning Levels</a:t>
            </a:r>
          </a:p>
        </p:txBody>
      </p:sp>
      <p:sp>
        <p:nvSpPr>
          <p:cNvPr id="16" name="TextBox 15"/>
          <p:cNvSpPr txBox="1"/>
          <p:nvPr/>
        </p:nvSpPr>
        <p:spPr>
          <a:xfrm>
            <a:off x="7315200" y="2331720"/>
            <a:ext cx="3749039" cy="640080"/>
          </a:xfrm>
          <a:prstGeom prst="rect">
            <a:avLst/>
          </a:prstGeom>
          <a:noFill/>
        </p:spPr>
        <p:txBody>
          <a:bodyPr wrap="square" anchor="t">
            <a:spAutoFit/>
          </a:bodyPr>
          <a:lstStyle/>
          <a:p>
            <a:pPr algn="l">
              <a:defRPr sz="1100" b="0">
                <a:solidFill>
                  <a:srgbClr val="64748B"/>
                </a:solidFill>
                <a:latin typeface="Calibri"/>
              </a:defRPr>
            </a:pPr>
            <a:r>
              <a:t>Three levels — Beginner, Intermediate, Advanced — so the AI adjusts its language and depth to match the student.</a:t>
            </a:r>
          </a:p>
        </p:txBody>
      </p:sp>
      <p:sp>
        <p:nvSpPr>
          <p:cNvPr id="17" name="Rounded Rectangle 16"/>
          <p:cNvSpPr/>
          <p:nvPr/>
        </p:nvSpPr>
        <p:spPr>
          <a:xfrm>
            <a:off x="96012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42900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19" name="Rectangle 18"/>
          <p:cNvSpPr/>
          <p:nvPr/>
        </p:nvSpPr>
        <p:spPr>
          <a:xfrm>
            <a:off x="1828800" y="3383280"/>
            <a:ext cx="36576" cy="9601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3383280"/>
            <a:ext cx="3749039" cy="320040"/>
          </a:xfrm>
          <a:prstGeom prst="rect">
            <a:avLst/>
          </a:prstGeom>
          <a:noFill/>
        </p:spPr>
        <p:txBody>
          <a:bodyPr wrap="square" anchor="t">
            <a:spAutoFit/>
          </a:bodyPr>
          <a:lstStyle/>
          <a:p>
            <a:pPr algn="l">
              <a:defRPr sz="1500" b="1">
                <a:solidFill>
                  <a:srgbClr val="F1F5F9"/>
                </a:solidFill>
                <a:latin typeface="Calibri"/>
              </a:defRPr>
            </a:pPr>
            <a:r>
              <a:t>Always Works</a:t>
            </a:r>
          </a:p>
        </p:txBody>
      </p:sp>
      <p:sp>
        <p:nvSpPr>
          <p:cNvPr id="21" name="TextBox 20"/>
          <p:cNvSpPr txBox="1"/>
          <p:nvPr/>
        </p:nvSpPr>
        <p:spPr>
          <a:xfrm>
            <a:off x="2011680" y="3749040"/>
            <a:ext cx="3749039" cy="640080"/>
          </a:xfrm>
          <a:prstGeom prst="rect">
            <a:avLst/>
          </a:prstGeom>
          <a:noFill/>
        </p:spPr>
        <p:txBody>
          <a:bodyPr wrap="square" anchor="t">
            <a:spAutoFit/>
          </a:bodyPr>
          <a:lstStyle/>
          <a:p>
            <a:pPr algn="l">
              <a:defRPr sz="1100" b="0">
                <a:solidFill>
                  <a:srgbClr val="64748B"/>
                </a:solidFill>
                <a:latin typeface="Calibri"/>
              </a:defRPr>
            </a:pPr>
            <a:r>
              <a:t>Offline fallback engine means the app functions even without the backend running — students are never blocked.</a:t>
            </a:r>
          </a:p>
        </p:txBody>
      </p:sp>
      <p:sp>
        <p:nvSpPr>
          <p:cNvPr id="22" name="Rounded Rectangle 21"/>
          <p:cNvSpPr/>
          <p:nvPr/>
        </p:nvSpPr>
        <p:spPr>
          <a:xfrm>
            <a:off x="626364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42900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24" name="Rectangle 23"/>
          <p:cNvSpPr/>
          <p:nvPr/>
        </p:nvSpPr>
        <p:spPr>
          <a:xfrm>
            <a:off x="7132320" y="3383280"/>
            <a:ext cx="36576" cy="960120"/>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3383280"/>
            <a:ext cx="3749039" cy="320040"/>
          </a:xfrm>
          <a:prstGeom prst="rect">
            <a:avLst/>
          </a:prstGeom>
          <a:noFill/>
        </p:spPr>
        <p:txBody>
          <a:bodyPr wrap="square" anchor="t">
            <a:spAutoFit/>
          </a:bodyPr>
          <a:lstStyle/>
          <a:p>
            <a:pPr algn="l">
              <a:defRPr sz="1500" b="1">
                <a:solidFill>
                  <a:srgbClr val="F1F5F9"/>
                </a:solidFill>
                <a:latin typeface="Calibri"/>
              </a:defRPr>
            </a:pPr>
            <a:r>
              <a:t>Fully Responsive</a:t>
            </a:r>
          </a:p>
        </p:txBody>
      </p:sp>
      <p:sp>
        <p:nvSpPr>
          <p:cNvPr id="26" name="TextBox 25"/>
          <p:cNvSpPr txBox="1"/>
          <p:nvPr/>
        </p:nvSpPr>
        <p:spPr>
          <a:xfrm>
            <a:off x="7315200" y="3749040"/>
            <a:ext cx="3749039" cy="640080"/>
          </a:xfrm>
          <a:prstGeom prst="rect">
            <a:avLst/>
          </a:prstGeom>
          <a:noFill/>
        </p:spPr>
        <p:txBody>
          <a:bodyPr wrap="square" anchor="t">
            <a:spAutoFit/>
          </a:bodyPr>
          <a:lstStyle/>
          <a:p>
            <a:pPr algn="l">
              <a:defRPr sz="1100" b="0">
                <a:solidFill>
                  <a:srgbClr val="64748B"/>
                </a:solidFill>
                <a:latin typeface="Calibri"/>
              </a:defRPr>
            </a:pPr>
            <a:r>
              <a:t>Works seamlessly on desktop, tablet, and mobile. Sidebar collapses to a drawer on smaller screens.</a:t>
            </a:r>
          </a:p>
        </p:txBody>
      </p:sp>
      <p:sp>
        <p:nvSpPr>
          <p:cNvPr id="27" name="Rounded Rectangle 26"/>
          <p:cNvSpPr/>
          <p:nvPr/>
        </p:nvSpPr>
        <p:spPr>
          <a:xfrm>
            <a:off x="96012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484632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29" name="Rectangle 28"/>
          <p:cNvSpPr/>
          <p:nvPr/>
        </p:nvSpPr>
        <p:spPr>
          <a:xfrm>
            <a:off x="1828800" y="4800600"/>
            <a:ext cx="36576" cy="960120"/>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0" y="4800600"/>
            <a:ext cx="3749039" cy="320040"/>
          </a:xfrm>
          <a:prstGeom prst="rect">
            <a:avLst/>
          </a:prstGeom>
          <a:noFill/>
        </p:spPr>
        <p:txBody>
          <a:bodyPr wrap="square" anchor="t">
            <a:spAutoFit/>
          </a:bodyPr>
          <a:lstStyle/>
          <a:p>
            <a:pPr algn="l">
              <a:defRPr sz="1500" b="1">
                <a:solidFill>
                  <a:srgbClr val="F1F5F9"/>
                </a:solidFill>
                <a:latin typeface="Calibri"/>
              </a:defRPr>
            </a:pPr>
            <a:r>
              <a:t>Study History</a:t>
            </a:r>
          </a:p>
        </p:txBody>
      </p:sp>
      <p:sp>
        <p:nvSpPr>
          <p:cNvPr id="31" name="TextBox 30"/>
          <p:cNvSpPr txBox="1"/>
          <p:nvPr/>
        </p:nvSpPr>
        <p:spPr>
          <a:xfrm>
            <a:off x="2011680" y="5166360"/>
            <a:ext cx="3749039" cy="640080"/>
          </a:xfrm>
          <a:prstGeom prst="rect">
            <a:avLst/>
          </a:prstGeom>
          <a:noFill/>
        </p:spPr>
        <p:txBody>
          <a:bodyPr wrap="square" anchor="t">
            <a:spAutoFit/>
          </a:bodyPr>
          <a:lstStyle/>
          <a:p>
            <a:pPr algn="l">
              <a:defRPr sz="1100" b="0">
                <a:solidFill>
                  <a:srgbClr val="64748B"/>
                </a:solidFill>
                <a:latin typeface="Calibri"/>
              </a:defRPr>
            </a:pPr>
            <a:r>
              <a:t>Every session is saved to Supabase. Students can revisit past explanations, quizzes, and summaries anytime.</a:t>
            </a:r>
          </a:p>
        </p:txBody>
      </p:sp>
      <p:sp>
        <p:nvSpPr>
          <p:cNvPr id="32" name="Rounded Rectangle 31"/>
          <p:cNvSpPr/>
          <p:nvPr/>
        </p:nvSpPr>
        <p:spPr>
          <a:xfrm>
            <a:off x="626364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84632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34" name="Rectangle 33"/>
          <p:cNvSpPr/>
          <p:nvPr/>
        </p:nvSpPr>
        <p:spPr>
          <a:xfrm>
            <a:off x="7132320" y="4800600"/>
            <a:ext cx="36576" cy="9601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4800600"/>
            <a:ext cx="3749039" cy="320040"/>
          </a:xfrm>
          <a:prstGeom prst="rect">
            <a:avLst/>
          </a:prstGeom>
          <a:noFill/>
        </p:spPr>
        <p:txBody>
          <a:bodyPr wrap="square" anchor="t">
            <a:spAutoFit/>
          </a:bodyPr>
          <a:lstStyle/>
          <a:p>
            <a:pPr algn="l">
              <a:defRPr sz="1500" b="1">
                <a:solidFill>
                  <a:srgbClr val="F1F5F9"/>
                </a:solidFill>
                <a:latin typeface="Calibri"/>
              </a:defRPr>
            </a:pPr>
            <a:r>
              <a:t>Secure by Design</a:t>
            </a:r>
          </a:p>
        </p:txBody>
      </p:sp>
      <p:sp>
        <p:nvSpPr>
          <p:cNvPr id="36" name="TextBox 35"/>
          <p:cNvSpPr txBox="1"/>
          <p:nvPr/>
        </p:nvSpPr>
        <p:spPr>
          <a:xfrm>
            <a:off x="7315200" y="5166360"/>
            <a:ext cx="3749039" cy="640080"/>
          </a:xfrm>
          <a:prstGeom prst="rect">
            <a:avLst/>
          </a:prstGeom>
          <a:noFill/>
        </p:spPr>
        <p:txBody>
          <a:bodyPr wrap="square" anchor="t">
            <a:spAutoFit/>
          </a:bodyPr>
          <a:lstStyle/>
          <a:p>
            <a:pPr algn="l">
              <a:defRPr sz="1100" b="0">
                <a:solidFill>
                  <a:srgbClr val="64748B"/>
                </a:solidFill>
                <a:latin typeface="Calibri"/>
              </a:defRPr>
            </a:pPr>
            <a:r>
              <a:t>The Gemini API key lives only in the backend — it's never exposed in the frontend code or the user's browser.</a:t>
            </a:r>
          </a:p>
        </p:txBody>
      </p:sp>
      <p:sp>
        <p:nvSpPr>
          <p:cNvPr id="37" name="TextBox 36"/>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743200"/>
            <a:ext cx="3200400" cy="3200400"/>
          </a:xfrm>
          <a:prstGeom prst="ellipse">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10 — FUTURE ENHANCEMENTS</a:t>
            </a:r>
          </a:p>
        </p:txBody>
      </p:sp>
      <p:sp>
        <p:nvSpPr>
          <p:cNvPr id="5" name="Rounded Rectangle 4"/>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What's Next for EduGenie</a:t>
            </a:r>
          </a:p>
        </p:txBody>
      </p:sp>
      <p:sp>
        <p:nvSpPr>
          <p:cNvPr id="7" name="Rounded Rectangle 6"/>
          <p:cNvSpPr/>
          <p:nvPr/>
        </p:nvSpPr>
        <p:spPr>
          <a:xfrm>
            <a:off x="96012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1168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9" name="Rectangle 8"/>
          <p:cNvSpPr/>
          <p:nvPr/>
        </p:nvSpPr>
        <p:spPr>
          <a:xfrm>
            <a:off x="1828800" y="1965960"/>
            <a:ext cx="36576" cy="960120"/>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0" y="1965960"/>
            <a:ext cx="3749039" cy="320040"/>
          </a:xfrm>
          <a:prstGeom prst="rect">
            <a:avLst/>
          </a:prstGeom>
          <a:noFill/>
        </p:spPr>
        <p:txBody>
          <a:bodyPr wrap="square" anchor="t">
            <a:spAutoFit/>
          </a:bodyPr>
          <a:lstStyle/>
          <a:p>
            <a:pPr algn="l">
              <a:defRPr sz="1500" b="1">
                <a:solidFill>
                  <a:srgbClr val="F1F5F9"/>
                </a:solidFill>
                <a:latin typeface="Calibri"/>
              </a:defRPr>
            </a:pPr>
            <a:r>
              <a:t>User Accounts</a:t>
            </a:r>
          </a:p>
        </p:txBody>
      </p:sp>
      <p:sp>
        <p:nvSpPr>
          <p:cNvPr id="11" name="TextBox 10"/>
          <p:cNvSpPr txBox="1"/>
          <p:nvPr/>
        </p:nvSpPr>
        <p:spPr>
          <a:xfrm>
            <a:off x="2011680" y="2331720"/>
            <a:ext cx="3749039" cy="640080"/>
          </a:xfrm>
          <a:prstGeom prst="rect">
            <a:avLst/>
          </a:prstGeom>
          <a:noFill/>
        </p:spPr>
        <p:txBody>
          <a:bodyPr wrap="square" anchor="t">
            <a:spAutoFit/>
          </a:bodyPr>
          <a:lstStyle/>
          <a:p>
            <a:pPr algn="l">
              <a:defRPr sz="1100" b="0">
                <a:solidFill>
                  <a:srgbClr val="64748B"/>
                </a:solidFill>
                <a:latin typeface="Calibri"/>
              </a:defRPr>
            </a:pPr>
            <a:r>
              <a:t>Add authentication so each student has a personal account with their own private study history and bookmarks.</a:t>
            </a:r>
          </a:p>
        </p:txBody>
      </p:sp>
      <p:sp>
        <p:nvSpPr>
          <p:cNvPr id="12" name="Rounded Rectangle 11"/>
          <p:cNvSpPr/>
          <p:nvPr/>
        </p:nvSpPr>
        <p:spPr>
          <a:xfrm>
            <a:off x="6263640" y="182880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1168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14" name="Rectangle 13"/>
          <p:cNvSpPr/>
          <p:nvPr/>
        </p:nvSpPr>
        <p:spPr>
          <a:xfrm>
            <a:off x="7132320" y="1965960"/>
            <a:ext cx="36576" cy="960120"/>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965960"/>
            <a:ext cx="3749039" cy="320040"/>
          </a:xfrm>
          <a:prstGeom prst="rect">
            <a:avLst/>
          </a:prstGeom>
          <a:noFill/>
        </p:spPr>
        <p:txBody>
          <a:bodyPr wrap="square" anchor="t">
            <a:spAutoFit/>
          </a:bodyPr>
          <a:lstStyle/>
          <a:p>
            <a:pPr algn="l">
              <a:defRPr sz="1500" b="1">
                <a:solidFill>
                  <a:srgbClr val="F1F5F9"/>
                </a:solidFill>
                <a:latin typeface="Calibri"/>
              </a:defRPr>
            </a:pPr>
            <a:r>
              <a:t>Voice Input &amp; Output</a:t>
            </a:r>
          </a:p>
        </p:txBody>
      </p:sp>
      <p:sp>
        <p:nvSpPr>
          <p:cNvPr id="16" name="TextBox 15"/>
          <p:cNvSpPr txBox="1"/>
          <p:nvPr/>
        </p:nvSpPr>
        <p:spPr>
          <a:xfrm>
            <a:off x="7315200" y="2331720"/>
            <a:ext cx="3749039" cy="640080"/>
          </a:xfrm>
          <a:prstGeom prst="rect">
            <a:avLst/>
          </a:prstGeom>
          <a:noFill/>
        </p:spPr>
        <p:txBody>
          <a:bodyPr wrap="square" anchor="t">
            <a:spAutoFit/>
          </a:bodyPr>
          <a:lstStyle/>
          <a:p>
            <a:pPr algn="l">
              <a:defRPr sz="1100" b="0">
                <a:solidFill>
                  <a:srgbClr val="64748B"/>
                </a:solidFill>
                <a:latin typeface="Calibri"/>
              </a:defRPr>
            </a:pPr>
            <a:r>
              <a:t>Let students ask questions by speaking and hear answers read aloud — great for accessibility and hands-free learning.</a:t>
            </a:r>
          </a:p>
        </p:txBody>
      </p:sp>
      <p:sp>
        <p:nvSpPr>
          <p:cNvPr id="17" name="Rounded Rectangle 16"/>
          <p:cNvSpPr/>
          <p:nvPr/>
        </p:nvSpPr>
        <p:spPr>
          <a:xfrm>
            <a:off x="96012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342900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19" name="Rectangle 18"/>
          <p:cNvSpPr/>
          <p:nvPr/>
        </p:nvSpPr>
        <p:spPr>
          <a:xfrm>
            <a:off x="1828800" y="3383280"/>
            <a:ext cx="36576" cy="9601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3383280"/>
            <a:ext cx="3749039" cy="320040"/>
          </a:xfrm>
          <a:prstGeom prst="rect">
            <a:avLst/>
          </a:prstGeom>
          <a:noFill/>
        </p:spPr>
        <p:txBody>
          <a:bodyPr wrap="square" anchor="t">
            <a:spAutoFit/>
          </a:bodyPr>
          <a:lstStyle/>
          <a:p>
            <a:pPr algn="l">
              <a:defRPr sz="1500" b="1">
                <a:solidFill>
                  <a:srgbClr val="F1F5F9"/>
                </a:solidFill>
                <a:latin typeface="Calibri"/>
              </a:defRPr>
            </a:pPr>
            <a:r>
              <a:t>Progress Analytics</a:t>
            </a:r>
          </a:p>
        </p:txBody>
      </p:sp>
      <p:sp>
        <p:nvSpPr>
          <p:cNvPr id="21" name="TextBox 20"/>
          <p:cNvSpPr txBox="1"/>
          <p:nvPr/>
        </p:nvSpPr>
        <p:spPr>
          <a:xfrm>
            <a:off x="2011680" y="3749040"/>
            <a:ext cx="3749039" cy="640080"/>
          </a:xfrm>
          <a:prstGeom prst="rect">
            <a:avLst/>
          </a:prstGeom>
          <a:noFill/>
        </p:spPr>
        <p:txBody>
          <a:bodyPr wrap="square" anchor="t">
            <a:spAutoFit/>
          </a:bodyPr>
          <a:lstStyle/>
          <a:p>
            <a:pPr algn="l">
              <a:defRPr sz="1100" b="0">
                <a:solidFill>
                  <a:srgbClr val="64748B"/>
                </a:solidFill>
                <a:latin typeface="Calibri"/>
              </a:defRPr>
            </a:pPr>
            <a:r>
              <a:t>Track quiz scores over time, show strengths and weaknesses, and suggest areas to focus on next.</a:t>
            </a:r>
          </a:p>
        </p:txBody>
      </p:sp>
      <p:sp>
        <p:nvSpPr>
          <p:cNvPr id="22" name="Rounded Rectangle 21"/>
          <p:cNvSpPr/>
          <p:nvPr/>
        </p:nvSpPr>
        <p:spPr>
          <a:xfrm>
            <a:off x="6263640" y="324612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342900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24" name="Rectangle 23"/>
          <p:cNvSpPr/>
          <p:nvPr/>
        </p:nvSpPr>
        <p:spPr>
          <a:xfrm>
            <a:off x="7132320" y="3383280"/>
            <a:ext cx="36576" cy="960120"/>
          </a:xfrm>
          <a:prstGeom prst="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3383280"/>
            <a:ext cx="3749039" cy="320040"/>
          </a:xfrm>
          <a:prstGeom prst="rect">
            <a:avLst/>
          </a:prstGeom>
          <a:noFill/>
        </p:spPr>
        <p:txBody>
          <a:bodyPr wrap="square" anchor="t">
            <a:spAutoFit/>
          </a:bodyPr>
          <a:lstStyle/>
          <a:p>
            <a:pPr algn="l">
              <a:defRPr sz="1500" b="1">
                <a:solidFill>
                  <a:srgbClr val="F1F5F9"/>
                </a:solidFill>
                <a:latin typeface="Calibri"/>
              </a:defRPr>
            </a:pPr>
            <a:r>
              <a:t>Multi-Language Support</a:t>
            </a:r>
          </a:p>
        </p:txBody>
      </p:sp>
      <p:sp>
        <p:nvSpPr>
          <p:cNvPr id="26" name="TextBox 25"/>
          <p:cNvSpPr txBox="1"/>
          <p:nvPr/>
        </p:nvSpPr>
        <p:spPr>
          <a:xfrm>
            <a:off x="7315200" y="3749040"/>
            <a:ext cx="3749039" cy="640080"/>
          </a:xfrm>
          <a:prstGeom prst="rect">
            <a:avLst/>
          </a:prstGeom>
          <a:noFill/>
        </p:spPr>
        <p:txBody>
          <a:bodyPr wrap="square" anchor="t">
            <a:spAutoFit/>
          </a:bodyPr>
          <a:lstStyle/>
          <a:p>
            <a:pPr algn="l">
              <a:defRPr sz="1100" b="0">
                <a:solidFill>
                  <a:srgbClr val="64748B"/>
                </a:solidFill>
                <a:latin typeface="Calibri"/>
              </a:defRPr>
            </a:pPr>
            <a:r>
              <a:t>Support multiple languages so students can learn in their native language, not just English.</a:t>
            </a:r>
          </a:p>
        </p:txBody>
      </p:sp>
      <p:sp>
        <p:nvSpPr>
          <p:cNvPr id="27" name="Rounded Rectangle 26"/>
          <p:cNvSpPr/>
          <p:nvPr/>
        </p:nvSpPr>
        <p:spPr>
          <a:xfrm>
            <a:off x="96012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484632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29" name="Rectangle 28"/>
          <p:cNvSpPr/>
          <p:nvPr/>
        </p:nvSpPr>
        <p:spPr>
          <a:xfrm>
            <a:off x="1828800" y="4800600"/>
            <a:ext cx="36576" cy="960120"/>
          </a:xfrm>
          <a:prstGeom prst="rect">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11680" y="4800600"/>
            <a:ext cx="3749039" cy="320040"/>
          </a:xfrm>
          <a:prstGeom prst="rect">
            <a:avLst/>
          </a:prstGeom>
          <a:noFill/>
        </p:spPr>
        <p:txBody>
          <a:bodyPr wrap="square" anchor="t">
            <a:spAutoFit/>
          </a:bodyPr>
          <a:lstStyle/>
          <a:p>
            <a:pPr algn="l">
              <a:defRPr sz="1500" b="1">
                <a:solidFill>
                  <a:srgbClr val="F1F5F9"/>
                </a:solidFill>
                <a:latin typeface="Calibri"/>
              </a:defRPr>
            </a:pPr>
            <a:r>
              <a:t>Teacher Dashboard</a:t>
            </a:r>
          </a:p>
        </p:txBody>
      </p:sp>
      <p:sp>
        <p:nvSpPr>
          <p:cNvPr id="31" name="TextBox 30"/>
          <p:cNvSpPr txBox="1"/>
          <p:nvPr/>
        </p:nvSpPr>
        <p:spPr>
          <a:xfrm>
            <a:off x="2011680" y="5166360"/>
            <a:ext cx="3749039" cy="640080"/>
          </a:xfrm>
          <a:prstGeom prst="rect">
            <a:avLst/>
          </a:prstGeom>
          <a:noFill/>
        </p:spPr>
        <p:txBody>
          <a:bodyPr wrap="square" anchor="t">
            <a:spAutoFit/>
          </a:bodyPr>
          <a:lstStyle/>
          <a:p>
            <a:pPr algn="l">
              <a:defRPr sz="1100" b="0">
                <a:solidFill>
                  <a:srgbClr val="64748B"/>
                </a:solidFill>
                <a:latin typeface="Calibri"/>
              </a:defRPr>
            </a:pPr>
            <a:r>
              <a:t>Let teachers create custom quizzes and learning paths for their classes, and track student progress.</a:t>
            </a:r>
          </a:p>
        </p:txBody>
      </p:sp>
      <p:sp>
        <p:nvSpPr>
          <p:cNvPr id="32" name="Rounded Rectangle 31"/>
          <p:cNvSpPr/>
          <p:nvPr/>
        </p:nvSpPr>
        <p:spPr>
          <a:xfrm>
            <a:off x="6263640" y="4663440"/>
            <a:ext cx="4937760" cy="1234440"/>
          </a:xfrm>
          <a:prstGeom prst="roundRect">
            <a:avLst>
              <a:gd name="adj" fmla="val 6000"/>
            </a:avLst>
          </a:prstGeom>
          <a:solidFill>
            <a:srgbClr val="0C1122"/>
          </a:solidFill>
          <a:ln w="12700">
            <a:solidFill>
              <a:srgbClr val="1A2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46520" y="4846320"/>
            <a:ext cx="548640" cy="548640"/>
          </a:xfrm>
          <a:prstGeom prst="rect">
            <a:avLst/>
          </a:prstGeom>
          <a:noFill/>
        </p:spPr>
        <p:txBody>
          <a:bodyPr wrap="square" anchor="ctr">
            <a:spAutoFit/>
          </a:bodyPr>
          <a:lstStyle/>
          <a:p>
            <a:pPr algn="ctr">
              <a:defRPr sz="2200" b="0">
                <a:solidFill>
                  <a:srgbClr val="CBD5E1"/>
                </a:solidFill>
                <a:latin typeface="Calibri"/>
              </a:defRPr>
            </a:pPr>
            <a:r>
              <a:t>📄</a:t>
            </a:r>
          </a:p>
        </p:txBody>
      </p:sp>
      <p:sp>
        <p:nvSpPr>
          <p:cNvPr id="34" name="Rectangle 33"/>
          <p:cNvSpPr/>
          <p:nvPr/>
        </p:nvSpPr>
        <p:spPr>
          <a:xfrm>
            <a:off x="7132320" y="4800600"/>
            <a:ext cx="36576" cy="9601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4800600"/>
            <a:ext cx="3749039" cy="320040"/>
          </a:xfrm>
          <a:prstGeom prst="rect">
            <a:avLst/>
          </a:prstGeom>
          <a:noFill/>
        </p:spPr>
        <p:txBody>
          <a:bodyPr wrap="square" anchor="t">
            <a:spAutoFit/>
          </a:bodyPr>
          <a:lstStyle/>
          <a:p>
            <a:pPr algn="l">
              <a:defRPr sz="1500" b="1">
                <a:solidFill>
                  <a:srgbClr val="F1F5F9"/>
                </a:solidFill>
                <a:latin typeface="Calibri"/>
              </a:defRPr>
            </a:pPr>
            <a:r>
              <a:t>PDF Export</a:t>
            </a:r>
          </a:p>
        </p:txBody>
      </p:sp>
      <p:sp>
        <p:nvSpPr>
          <p:cNvPr id="36" name="TextBox 35"/>
          <p:cNvSpPr txBox="1"/>
          <p:nvPr/>
        </p:nvSpPr>
        <p:spPr>
          <a:xfrm>
            <a:off x="7315200" y="5166360"/>
            <a:ext cx="3749039" cy="640080"/>
          </a:xfrm>
          <a:prstGeom prst="rect">
            <a:avLst/>
          </a:prstGeom>
          <a:noFill/>
        </p:spPr>
        <p:txBody>
          <a:bodyPr wrap="square" anchor="t">
            <a:spAutoFit/>
          </a:bodyPr>
          <a:lstStyle/>
          <a:p>
            <a:pPr algn="l">
              <a:defRPr sz="1100" b="0">
                <a:solidFill>
                  <a:srgbClr val="64748B"/>
                </a:solidFill>
                <a:latin typeface="Calibri"/>
              </a:defRPr>
            </a:pPr>
            <a:r>
              <a:t>Allow students to export explanations, summaries, and learning paths as PDF documents for offline study.</a:t>
            </a:r>
          </a:p>
        </p:txBody>
      </p:sp>
      <p:sp>
        <p:nvSpPr>
          <p:cNvPr id="37" name="TextBox 36"/>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914400"/>
            <a:ext cx="3657600" cy="3657600"/>
          </a:xfrm>
          <a:prstGeom prst="ellipse">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3657600"/>
            <a:ext cx="3657600" cy="3657600"/>
          </a:xfrm>
          <a:prstGeom prst="ellipse">
            <a:avLst/>
          </a:prstGeom>
          <a:solidFill>
            <a:srgbClr val="23C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3657600" cy="320040"/>
          </a:xfrm>
          <a:prstGeom prst="rect">
            <a:avLst/>
          </a:prstGeom>
          <a:noFill/>
        </p:spPr>
        <p:txBody>
          <a:bodyPr wrap="square" anchor="t">
            <a:spAutoFit/>
          </a:bodyPr>
          <a:lstStyle/>
          <a:p>
            <a:pPr algn="l">
              <a:defRPr sz="1100" b="1">
                <a:solidFill>
                  <a:srgbClr val="23CBDC"/>
                </a:solidFill>
                <a:latin typeface="Calibri"/>
              </a:defRPr>
            </a:pPr>
            <a:r>
              <a:t>11 — CONCLUSION</a:t>
            </a:r>
          </a:p>
        </p:txBody>
      </p:sp>
      <p:sp>
        <p:nvSpPr>
          <p:cNvPr id="6" name="Rounded Rectangle 5"/>
          <p:cNvSpPr/>
          <p:nvPr/>
        </p:nvSpPr>
        <p:spPr>
          <a:xfrm>
            <a:off x="731520" y="914400"/>
            <a:ext cx="54864" cy="502920"/>
          </a:xfrm>
          <a:prstGeom prst="roundRect">
            <a:avLst/>
          </a:prstGeom>
          <a:solidFill>
            <a:srgbClr val="8B7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9144000" cy="640080"/>
          </a:xfrm>
          <a:prstGeom prst="rect">
            <a:avLst/>
          </a:prstGeom>
          <a:noFill/>
        </p:spPr>
        <p:txBody>
          <a:bodyPr wrap="square" anchor="t">
            <a:spAutoFit/>
          </a:bodyPr>
          <a:lstStyle/>
          <a:p>
            <a:pPr algn="l">
              <a:defRPr sz="3200" b="1">
                <a:solidFill>
                  <a:srgbClr val="F1F5F9"/>
                </a:solidFill>
                <a:latin typeface="Calibri"/>
              </a:defRPr>
            </a:pPr>
            <a:r>
              <a:t>Conclusion</a:t>
            </a:r>
          </a:p>
        </p:txBody>
      </p:sp>
      <p:sp>
        <p:nvSpPr>
          <p:cNvPr id="8" name="TextBox 7"/>
          <p:cNvSpPr txBox="1"/>
          <p:nvPr/>
        </p:nvSpPr>
        <p:spPr>
          <a:xfrm>
            <a:off x="960120" y="1828800"/>
            <a:ext cx="10058400" cy="1828800"/>
          </a:xfrm>
          <a:prstGeom prst="rect">
            <a:avLst/>
          </a:prstGeom>
          <a:noFill/>
        </p:spPr>
        <p:txBody>
          <a:bodyPr wrap="square" anchor="t">
            <a:spAutoFit/>
          </a:bodyPr>
          <a:lstStyle/>
          <a:p>
            <a:pPr algn="l">
              <a:spcAft>
                <a:spcPts val="600"/>
              </a:spcAft>
              <a:defRPr sz="1800" b="1">
                <a:solidFill>
                  <a:srgbClr val="F1F5F9"/>
                </a:solidFill>
                <a:latin typeface="Calibri"/>
              </a:defRPr>
            </a:pPr>
            <a:r>
              <a:t>EduGenie demonstrates how AI can transform education.</a:t>
            </a:r>
          </a:p>
          <a:p>
            <a:pPr algn="l">
              <a:spcAft>
                <a:spcPts val="600"/>
              </a:spcAft>
              <a:defRPr sz="800" b="0">
                <a:solidFill>
                  <a:srgbClr val="CBD5E1"/>
                </a:solidFill>
                <a:latin typeface="Calibri"/>
              </a:defRPr>
            </a:pPr>
          </a:p>
          <a:p>
            <a:pPr algn="l">
              <a:spcAft>
                <a:spcPts val="600"/>
              </a:spcAft>
              <a:defRPr sz="1600" b="0">
                <a:solidFill>
                  <a:srgbClr val="CBD5E1"/>
                </a:solidFill>
                <a:latin typeface="Calibri"/>
              </a:defRPr>
            </a:pPr>
            <a:r>
              <a:t>By combining Google Gemini with a modern web stack, it delivers five powerful</a:t>
            </a:r>
          </a:p>
          <a:p>
            <a:pPr algn="l">
              <a:spcAft>
                <a:spcPts val="600"/>
              </a:spcAft>
              <a:defRPr sz="1600" b="0">
                <a:solidFill>
                  <a:srgbClr val="CBD5E1"/>
                </a:solidFill>
                <a:latin typeface="Calibri"/>
              </a:defRPr>
            </a:pPr>
            <a:r>
              <a:t>learning tools — Q&amp;A, explanations, quizzes, summaries, and learning paths — in one</a:t>
            </a:r>
          </a:p>
          <a:p>
            <a:pPr algn="l">
              <a:spcAft>
                <a:spcPts val="600"/>
              </a:spcAft>
              <a:defRPr sz="1600" b="0">
                <a:solidFill>
                  <a:srgbClr val="CBD5E1"/>
                </a:solidFill>
                <a:latin typeface="Calibri"/>
              </a:defRPr>
            </a:pPr>
            <a:r>
              <a:t>clean, student-friendly platform.</a:t>
            </a:r>
          </a:p>
        </p:txBody>
      </p:sp>
      <p:sp>
        <p:nvSpPr>
          <p:cNvPr id="9" name="TextBox 8"/>
          <p:cNvSpPr txBox="1"/>
          <p:nvPr/>
        </p:nvSpPr>
        <p:spPr>
          <a:xfrm>
            <a:off x="960120" y="3566160"/>
            <a:ext cx="4572000" cy="320040"/>
          </a:xfrm>
          <a:prstGeom prst="rect">
            <a:avLst/>
          </a:prstGeom>
          <a:noFill/>
        </p:spPr>
        <p:txBody>
          <a:bodyPr wrap="square" anchor="t">
            <a:spAutoFit/>
          </a:bodyPr>
          <a:lstStyle/>
          <a:p>
            <a:pPr algn="l">
              <a:defRPr sz="1000" b="1">
                <a:solidFill>
                  <a:srgbClr val="23CBDC"/>
                </a:solidFill>
                <a:latin typeface="Calibri"/>
              </a:defRPr>
            </a:pPr>
            <a:r>
              <a:t>KEY TAKEAWAYS</a:t>
            </a:r>
          </a:p>
        </p:txBody>
      </p:sp>
      <p:sp>
        <p:nvSpPr>
          <p:cNvPr id="10" name="Rounded Rectangle 9"/>
          <p:cNvSpPr/>
          <p:nvPr/>
        </p:nvSpPr>
        <p:spPr>
          <a:xfrm>
            <a:off x="1005840" y="4069079"/>
            <a:ext cx="109728" cy="109728"/>
          </a:xfrm>
          <a:prstGeom prst="roundRect">
            <a:avLst>
              <a:gd name="adj" fmla="val 8000"/>
            </a:avLst>
          </a:prstGeom>
          <a:gradFill rotWithShape="1">
            <a:gsLst>
              <a:gs pos="0">
                <a:srgbClr val="8B7CFF"/>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977639"/>
            <a:ext cx="4572000" cy="320040"/>
          </a:xfrm>
          <a:prstGeom prst="rect">
            <a:avLst/>
          </a:prstGeom>
          <a:noFill/>
        </p:spPr>
        <p:txBody>
          <a:bodyPr wrap="square" anchor="t">
            <a:spAutoFit/>
          </a:bodyPr>
          <a:lstStyle/>
          <a:p>
            <a:pPr algn="l">
              <a:defRPr sz="1400" b="1">
                <a:solidFill>
                  <a:srgbClr val="F1F5F9"/>
                </a:solidFill>
                <a:latin typeface="Calibri"/>
              </a:defRPr>
            </a:pPr>
            <a:r>
              <a:t>AI makes learning faster</a:t>
            </a:r>
          </a:p>
        </p:txBody>
      </p:sp>
      <p:sp>
        <p:nvSpPr>
          <p:cNvPr id="12" name="TextBox 11"/>
          <p:cNvSpPr txBox="1"/>
          <p:nvPr/>
        </p:nvSpPr>
        <p:spPr>
          <a:xfrm>
            <a:off x="1280160" y="4297679"/>
            <a:ext cx="9601200" cy="320040"/>
          </a:xfrm>
          <a:prstGeom prst="rect">
            <a:avLst/>
          </a:prstGeom>
          <a:noFill/>
        </p:spPr>
        <p:txBody>
          <a:bodyPr wrap="square" anchor="t">
            <a:spAutoFit/>
          </a:bodyPr>
          <a:lstStyle/>
          <a:p>
            <a:pPr algn="l">
              <a:defRPr sz="1200" b="0">
                <a:solidFill>
                  <a:srgbClr val="64748B"/>
                </a:solidFill>
                <a:latin typeface="Calibri"/>
              </a:defRPr>
            </a:pPr>
            <a:r>
              <a:t>Instant answers, no more searching through pages of results</a:t>
            </a:r>
          </a:p>
        </p:txBody>
      </p:sp>
      <p:sp>
        <p:nvSpPr>
          <p:cNvPr id="13" name="Rounded Rectangle 12"/>
          <p:cNvSpPr/>
          <p:nvPr/>
        </p:nvSpPr>
        <p:spPr>
          <a:xfrm>
            <a:off x="1005840" y="4846319"/>
            <a:ext cx="109728" cy="109728"/>
          </a:xfrm>
          <a:prstGeom prst="roundRect">
            <a:avLst>
              <a:gd name="adj" fmla="val 8000"/>
            </a:avLst>
          </a:prstGeom>
          <a:gradFill rotWithShape="1">
            <a:gsLst>
              <a:gs pos="0">
                <a:srgbClr val="23CBDC"/>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4754879"/>
            <a:ext cx="4572000" cy="320040"/>
          </a:xfrm>
          <a:prstGeom prst="rect">
            <a:avLst/>
          </a:prstGeom>
          <a:noFill/>
        </p:spPr>
        <p:txBody>
          <a:bodyPr wrap="square" anchor="t">
            <a:spAutoFit/>
          </a:bodyPr>
          <a:lstStyle/>
          <a:p>
            <a:pPr algn="l">
              <a:defRPr sz="1400" b="1">
                <a:solidFill>
                  <a:srgbClr val="F1F5F9"/>
                </a:solidFill>
                <a:latin typeface="Calibri"/>
              </a:defRPr>
            </a:pPr>
            <a:r>
              <a:t>Personalization matters</a:t>
            </a:r>
          </a:p>
        </p:txBody>
      </p:sp>
      <p:sp>
        <p:nvSpPr>
          <p:cNvPr id="15" name="TextBox 14"/>
          <p:cNvSpPr txBox="1"/>
          <p:nvPr/>
        </p:nvSpPr>
        <p:spPr>
          <a:xfrm>
            <a:off x="1280160" y="5074919"/>
            <a:ext cx="9601200" cy="320040"/>
          </a:xfrm>
          <a:prstGeom prst="rect">
            <a:avLst/>
          </a:prstGeom>
          <a:noFill/>
        </p:spPr>
        <p:txBody>
          <a:bodyPr wrap="square" anchor="t">
            <a:spAutoFit/>
          </a:bodyPr>
          <a:lstStyle/>
          <a:p>
            <a:pPr algn="l">
              <a:defRPr sz="1200" b="0">
                <a:solidFill>
                  <a:srgbClr val="64748B"/>
                </a:solidFill>
                <a:latin typeface="Calibri"/>
              </a:defRPr>
            </a:pPr>
            <a:r>
              <a:t>Three learning levels adapt the AI's language to each student</a:t>
            </a:r>
          </a:p>
        </p:txBody>
      </p:sp>
      <p:sp>
        <p:nvSpPr>
          <p:cNvPr id="16" name="Rounded Rectangle 15"/>
          <p:cNvSpPr/>
          <p:nvPr/>
        </p:nvSpPr>
        <p:spPr>
          <a:xfrm>
            <a:off x="1005840" y="5623560"/>
            <a:ext cx="109728" cy="109728"/>
          </a:xfrm>
          <a:prstGeom prst="roundRect">
            <a:avLst>
              <a:gd name="adj" fmla="val 8000"/>
            </a:avLst>
          </a:prstGeom>
          <a:gradFill rotWithShape="1">
            <a:gsLst>
              <a:gs pos="0">
                <a:srgbClr val="3B82F6"/>
              </a:gs>
              <a:gs pos="100000">
                <a:srgbClr val="23CBDC"/>
              </a:gs>
            </a:gsLst>
            <a:lin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5532120"/>
            <a:ext cx="4572000" cy="320040"/>
          </a:xfrm>
          <a:prstGeom prst="rect">
            <a:avLst/>
          </a:prstGeom>
          <a:noFill/>
        </p:spPr>
        <p:txBody>
          <a:bodyPr wrap="square" anchor="t">
            <a:spAutoFit/>
          </a:bodyPr>
          <a:lstStyle/>
          <a:p>
            <a:pPr algn="l">
              <a:defRPr sz="1400" b="1">
                <a:solidFill>
                  <a:srgbClr val="F1F5F9"/>
                </a:solidFill>
                <a:latin typeface="Calibri"/>
              </a:defRPr>
            </a:pPr>
            <a:r>
              <a:t>Always available</a:t>
            </a:r>
          </a:p>
        </p:txBody>
      </p:sp>
      <p:sp>
        <p:nvSpPr>
          <p:cNvPr id="18" name="TextBox 17"/>
          <p:cNvSpPr txBox="1"/>
          <p:nvPr/>
        </p:nvSpPr>
        <p:spPr>
          <a:xfrm>
            <a:off x="1280160" y="5852160"/>
            <a:ext cx="9601200" cy="320040"/>
          </a:xfrm>
          <a:prstGeom prst="rect">
            <a:avLst/>
          </a:prstGeom>
          <a:noFill/>
        </p:spPr>
        <p:txBody>
          <a:bodyPr wrap="square" anchor="t">
            <a:spAutoFit/>
          </a:bodyPr>
          <a:lstStyle/>
          <a:p>
            <a:pPr algn="l">
              <a:defRPr sz="1200" b="0">
                <a:solidFill>
                  <a:srgbClr val="64748B"/>
                </a:solidFill>
                <a:latin typeface="Calibri"/>
              </a:defRPr>
            </a:pPr>
            <a:r>
              <a:t>Offline fallback ensures the app works even without the backend</a:t>
            </a:r>
          </a:p>
        </p:txBody>
      </p:sp>
      <p:sp>
        <p:nvSpPr>
          <p:cNvPr id="19" name="TextBox 18"/>
          <p:cNvSpPr txBox="1"/>
          <p:nvPr/>
        </p:nvSpPr>
        <p:spPr>
          <a:xfrm>
            <a:off x="914400" y="5852160"/>
            <a:ext cx="10362895" cy="548640"/>
          </a:xfrm>
          <a:prstGeom prst="rect">
            <a:avLst/>
          </a:prstGeom>
          <a:noFill/>
        </p:spPr>
        <p:txBody>
          <a:bodyPr wrap="square" anchor="t">
            <a:spAutoFit/>
          </a:bodyPr>
          <a:lstStyle/>
          <a:p>
            <a:pPr algn="ctr">
              <a:defRPr sz="2800" b="1">
                <a:solidFill>
                  <a:srgbClr val="F1F5F9"/>
                </a:solidFill>
                <a:latin typeface="Calibri"/>
              </a:defRPr>
            </a:pPr>
            <a:r>
              <a:t>Thank You!</a:t>
            </a:r>
          </a:p>
        </p:txBody>
      </p:sp>
      <p:sp>
        <p:nvSpPr>
          <p:cNvPr id="20" name="TextBox 19"/>
          <p:cNvSpPr txBox="1"/>
          <p:nvPr/>
        </p:nvSpPr>
        <p:spPr>
          <a:xfrm>
            <a:off x="914400" y="6400800"/>
            <a:ext cx="10362895" cy="320040"/>
          </a:xfrm>
          <a:prstGeom prst="rect">
            <a:avLst/>
          </a:prstGeom>
          <a:noFill/>
        </p:spPr>
        <p:txBody>
          <a:bodyPr wrap="square" anchor="t">
            <a:spAutoFit/>
          </a:bodyPr>
          <a:lstStyle/>
          <a:p>
            <a:pPr algn="ctr">
              <a:defRPr sz="1400" b="0">
                <a:solidFill>
                  <a:srgbClr val="A582FF"/>
                </a:solidFill>
                <a:latin typeface="Calibri"/>
              </a:defRPr>
            </a:pPr>
            <a:r>
              <a:t>Questions &amp; Discussion</a:t>
            </a:r>
          </a:p>
        </p:txBody>
      </p:sp>
      <p:sp>
        <p:nvSpPr>
          <p:cNvPr id="21" name="TextBox 20"/>
          <p:cNvSpPr txBox="1"/>
          <p:nvPr/>
        </p:nvSpPr>
        <p:spPr>
          <a:xfrm>
            <a:off x="10972800" y="6400800"/>
            <a:ext cx="1097280" cy="365760"/>
          </a:xfrm>
          <a:prstGeom prst="rect">
            <a:avLst/>
          </a:prstGeom>
          <a:noFill/>
        </p:spPr>
        <p:txBody>
          <a:bodyPr wrap="square" anchor="t">
            <a:spAutoFit/>
          </a:bodyPr>
          <a:lstStyle/>
          <a:p>
            <a:pPr algn="r">
              <a:defRPr sz="1000" b="0">
                <a:solidFill>
                  <a:srgbClr val="475569"/>
                </a:solidFill>
                <a:latin typeface="Calibri"/>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